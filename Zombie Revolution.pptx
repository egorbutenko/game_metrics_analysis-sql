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3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66" r:id="rId5"/>
    <p:sldId id="259" r:id="rId6"/>
    <p:sldId id="260" r:id="rId7"/>
    <p:sldId id="269" r:id="rId8"/>
    <p:sldId id="261" r:id="rId9"/>
    <p:sldId id="270" r:id="rId10"/>
    <p:sldId id="271" r:id="rId11"/>
    <p:sldId id="272" r:id="rId12"/>
    <p:sldId id="264" r:id="rId13"/>
    <p:sldId id="263" r:id="rId14"/>
    <p:sldId id="262" r:id="rId15"/>
    <p:sldId id="274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6810BDA-A40D-4D25-8E94-69663844E7E0}">
          <p14:sldIdLst>
            <p14:sldId id="256"/>
            <p14:sldId id="257"/>
          </p14:sldIdLst>
        </p14:section>
        <p14:section name="Показатели игры" id="{77788853-9F2D-4512-ADC6-905173EC03E9}">
          <p14:sldIdLst>
            <p14:sldId id="265"/>
            <p14:sldId id="266"/>
          </p14:sldIdLst>
        </p14:section>
        <p14:section name="Технические проблемы" id="{5440331C-7EA1-41E9-9771-553C21ECE267}">
          <p14:sldIdLst>
            <p14:sldId id="259"/>
          </p14:sldIdLst>
        </p14:section>
        <p14:section name="Маркетинговая акция" id="{1CB09E56-FF08-42CA-8364-6DB31CE7EDE3}">
          <p14:sldIdLst>
            <p14:sldId id="260"/>
            <p14:sldId id="269"/>
          </p14:sldIdLst>
        </p14:section>
        <p14:section name="Финансовые метрики" id="{31A8512C-6D7A-44D4-B6AD-10532F76CA32}">
          <p14:sldIdLst>
            <p14:sldId id="261"/>
            <p14:sldId id="270"/>
            <p14:sldId id="271"/>
            <p14:sldId id="272"/>
          </p14:sldIdLst>
        </p14:section>
        <p14:section name="K-factor" id="{69318039-D524-44A8-A479-745613B420A7}">
          <p14:sldIdLst>
            <p14:sldId id="264"/>
          </p14:sldIdLst>
        </p14:section>
        <p14:section name="Новый канал привлечения пользователей" id="{24AD94A0-E1F6-4AC8-B773-FCE41908EBF0}">
          <p14:sldIdLst>
            <p14:sldId id="263"/>
          </p14:sldIdLst>
        </p14:section>
        <p14:section name="Лояльный пользователь" id="{FC8D8A3D-8AA7-4CE0-8144-47280E296353}">
          <p14:sldIdLst>
            <p14:sldId id="262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79" d="100"/>
          <a:sy n="79" d="100"/>
        </p:scale>
        <p:origin x="88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ownloads\query_result_2026-05-19T20_10_23.265463218Z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8;&#1047;%20&#1076;&#1083;&#1103;%20&#1072;&#1085;&#1072;&#1083;&#1080;&#1090;&#1080;&#1082;&#1072;-1%20&#1073;&#1072;&#1079;&#1086;&#1074;&#1099;&#1077;%20&#1084;&#1077;&#1090;&#1088;&#1080;&#1082;&#1080;%20&#1080;%20&#1082;&#1086;&#1075;&#1086;&#1088;&#1090;&#1085;&#1099;&#1081;%20&#1072;&#1085;&#1072;&#1083;&#1080;&#1079;%20&#1080;&#1075;&#1088;&#1099;\&#1058;&#1047;%20&#1072;&#1085;&#1072;&#1083;&#1080;&#1090;&#1080;&#1082;&#1072;%201_&#1041;&#1091;&#1090;&#1077;&#1085;&#1082;&#1086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8;&#1047;%20&#1076;&#1083;&#1103;%20&#1072;&#1085;&#1072;&#1083;&#1080;&#1090;&#1080;&#1082;&#1072;-1%20&#1073;&#1072;&#1079;&#1086;&#1074;&#1099;&#1077;%20&#1084;&#1077;&#1090;&#1088;&#1080;&#1082;&#1080;%20&#1080;%20&#1082;&#1086;&#1075;&#1086;&#1088;&#1090;&#1085;&#1099;&#1081;%20&#1072;&#1085;&#1072;&#1083;&#1080;&#1079;%20&#1080;&#1075;&#1088;&#1099;\&#1058;&#1047;%20&#1072;&#1085;&#1072;&#1083;&#1080;&#1090;&#1080;&#1082;&#1072;%201_&#1041;&#1091;&#1090;&#1077;&#1085;&#1082;&#1086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gor\Desktop\&#1072;&#1085;&#1072;&#1083;&#1080;&#1090;&#1080;&#1082;&#1072;\&#1050;&#1091;&#1088;&#1089;%20SQL\&#1050;&#1091;&#1088;&#1089;&#1086;&#1074;&#1072;&#1103;\&#1043;&#1088;&#1072;&#1092;&#1080;&#1082;&#1080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Динамика количества регистраций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7.9136482939632546E-2"/>
          <c:y val="0.16708333333333336"/>
          <c:w val="0.89030796150481195"/>
          <c:h val="0.67040172061825609"/>
        </c:manualLayout>
      </c:layout>
      <c:lineChart>
        <c:grouping val="stacked"/>
        <c:varyColors val="0"/>
        <c:ser>
          <c:idx val="0"/>
          <c:order val="0"/>
          <c:tx>
            <c:strRef>
              <c:f>'Количество регистраций 1 блок'!$B$1</c:f>
              <c:strCache>
                <c:ptCount val="1"/>
                <c:pt idx="0">
                  <c:v>Количество регистраций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'Количество регистраций 1 блок'!$A$2:$A$10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'Количество регистраций 1 блок'!$B$2:$B$10</c:f>
              <c:numCache>
                <c:formatCode>#,##0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AA-4A56-8209-ECEC00ADDB9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45929792"/>
        <c:axId val="345924032"/>
      </c:lineChart>
      <c:dateAx>
        <c:axId val="345929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5924032"/>
        <c:crosses val="autoZero"/>
        <c:auto val="1"/>
        <c:lblOffset val="100"/>
        <c:baseTimeUnit val="months"/>
      </c:dateAx>
      <c:valAx>
        <c:axId val="345924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регистраций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5929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Все сессии</a:t>
            </a:r>
          </a:p>
          <a:p>
            <a:pPr>
              <a:defRPr/>
            </a:pPr>
            <a:r>
              <a:rPr lang="ru-RU"/>
              <a:t>Доля сессий больше пяти минут от всех сессий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Количество сессий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Лист1!$A$2:$A$11</c:f>
              <c:numCache>
                <c:formatCode>mmm\-yy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Лист1!$B$2:$B$11</c:f>
              <c:numCache>
                <c:formatCode>#,##0</c:formatCode>
                <c:ptCount val="10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  <c:pt idx="9">
                  <c:v>4973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F2-4B22-A661-8C98CC3D12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3110720"/>
        <c:axId val="1113124160"/>
      </c:lineChart>
      <c:lineChart>
        <c:grouping val="standard"/>
        <c:varyColors val="0"/>
        <c:ser>
          <c:idx val="1"/>
          <c:order val="1"/>
          <c:tx>
            <c:strRef>
              <c:f>Лист1!$D$1</c:f>
              <c:strCache>
                <c:ptCount val="1"/>
                <c:pt idx="0">
                  <c:v>Доля сессий больше пяти минут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Лист1!$A$2:$A$11</c:f>
              <c:numCache>
                <c:formatCode>mmm\-yy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Лист1!$D$2:$D$11</c:f>
              <c:numCache>
                <c:formatCode>#\ ##0.##</c:formatCode>
                <c:ptCount val="10"/>
                <c:pt idx="0">
                  <c:v>0.76392352452202827</c:v>
                </c:pt>
                <c:pt idx="1">
                  <c:v>0.77274784970574917</c:v>
                </c:pt>
                <c:pt idx="2">
                  <c:v>0.76802507836990597</c:v>
                </c:pt>
                <c:pt idx="3">
                  <c:v>0.77572898799313894</c:v>
                </c:pt>
                <c:pt idx="4">
                  <c:v>0.74229857819905209</c:v>
                </c:pt>
                <c:pt idx="5">
                  <c:v>0.65454545454545454</c:v>
                </c:pt>
                <c:pt idx="6">
                  <c:v>0.73165704863973624</c:v>
                </c:pt>
                <c:pt idx="7">
                  <c:v>0.71800177357375106</c:v>
                </c:pt>
                <c:pt idx="8">
                  <c:v>0.67399204014535385</c:v>
                </c:pt>
                <c:pt idx="9">
                  <c:v>0.65212145586165293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F2-4B22-A661-8C98CC3D12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3134720"/>
        <c:axId val="1113162560"/>
      </c:lineChart>
      <c:dateAx>
        <c:axId val="11131107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3124160"/>
        <c:crosses val="autoZero"/>
        <c:auto val="1"/>
        <c:lblOffset val="100"/>
        <c:baseTimeUnit val="months"/>
      </c:dateAx>
      <c:valAx>
        <c:axId val="111312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сессий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3110720"/>
        <c:crosses val="autoZero"/>
        <c:crossBetween val="between"/>
      </c:valAx>
      <c:valAx>
        <c:axId val="11131625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 от всех сессий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.##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3134720"/>
        <c:crosses val="max"/>
        <c:crossBetween val="between"/>
      </c:valAx>
      <c:dateAx>
        <c:axId val="1113134720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1113162560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Доля длинных сессий (больше 1 часа)</a:t>
            </a:r>
          </a:p>
          <a:p>
            <a:pPr>
              <a:defRPr/>
            </a:pPr>
            <a:r>
              <a:rPr lang="ru-RU"/>
              <a:t>от</a:t>
            </a:r>
            <a:r>
              <a:rPr lang="ru-RU" baseline="0"/>
              <a:t> всех сессий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Лист2!$B$17</c:f>
              <c:strCache>
                <c:ptCount val="1"/>
                <c:pt idx="0">
                  <c:v>Доля длинных сессий (больше 1 часа)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Лист2!$A$18:$A$27</c:f>
              <c:numCache>
                <c:formatCode>mmm\-yy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Лист2!$B$18:$B$27</c:f>
              <c:numCache>
                <c:formatCode>General</c:formatCode>
                <c:ptCount val="10"/>
                <c:pt idx="0">
                  <c:v>0.67</c:v>
                </c:pt>
                <c:pt idx="1">
                  <c:v>0.69</c:v>
                </c:pt>
                <c:pt idx="2">
                  <c:v>0.69</c:v>
                </c:pt>
                <c:pt idx="3">
                  <c:v>0.68</c:v>
                </c:pt>
                <c:pt idx="4">
                  <c:v>0.64</c:v>
                </c:pt>
                <c:pt idx="5">
                  <c:v>0.56000000000000005</c:v>
                </c:pt>
                <c:pt idx="6">
                  <c:v>0.65</c:v>
                </c:pt>
                <c:pt idx="7">
                  <c:v>0.67</c:v>
                </c:pt>
                <c:pt idx="8">
                  <c:v>0.64</c:v>
                </c:pt>
                <c:pt idx="9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20-4E49-B9FF-37A854E893A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26626336"/>
        <c:axId val="426640256"/>
      </c:lineChart>
      <c:dateAx>
        <c:axId val="4266263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6640256"/>
        <c:crosses val="autoZero"/>
        <c:auto val="1"/>
        <c:lblOffset val="100"/>
        <c:baseTimeUnit val="months"/>
      </c:dateAx>
      <c:valAx>
        <c:axId val="426640256"/>
        <c:scaling>
          <c:orientation val="minMax"/>
          <c:min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6626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/>
              <a:t>Доля</a:t>
            </a:r>
            <a:r>
              <a:rPr lang="ru-RU" sz="1800" baseline="0"/>
              <a:t> записей без окончания сессии </a:t>
            </a:r>
          </a:p>
          <a:p>
            <a:pPr>
              <a:defRPr sz="1800"/>
            </a:pPr>
            <a:r>
              <a:rPr lang="ru-RU" sz="1800" baseline="0"/>
              <a:t>по типам устройств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explosion val="5"/>
          <c:dPt>
            <c:idx val="0"/>
            <c:bubble3D val="0"/>
            <c:explosion val="18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0AE-455C-A0BD-09D48C83CA2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0AE-455C-A0BD-09D48C83CA2B}"/>
              </c:ext>
            </c:extLst>
          </c:dPt>
          <c:dLbls>
            <c:dLbl>
              <c:idx val="0"/>
              <c:layout>
                <c:manualLayout>
                  <c:x val="-0.10480194009658893"/>
                  <c:y val="0.1176084234534937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8120729-C101-40FD-88EC-50F014B4A917}" type="VALUE">
                      <a:rPr lang="en-US" sz="1600"/>
                      <a:pPr>
                        <a:defRPr/>
                      </a:pPr>
                      <a:t>[ЗНАЧЕНИЕ]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555555555555556"/>
                      <c:h val="0.1365740740740740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0AE-455C-A0BD-09D48C83CA2B}"/>
                </c:ext>
              </c:extLst>
            </c:dLbl>
            <c:dLbl>
              <c:idx val="1"/>
              <c:layout>
                <c:manualLayout>
                  <c:x val="2.3543088363954506E-2"/>
                  <c:y val="-0.1806820501603966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AE-455C-A0BD-09D48C83CA2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Лист7!$A$6:$A$7</c:f>
              <c:strCache>
                <c:ptCount val="2"/>
                <c:pt idx="0">
                  <c:v>Проблемная часть Android</c:v>
                </c:pt>
                <c:pt idx="1">
                  <c:v>Проблемная часть IOS</c:v>
                </c:pt>
              </c:strCache>
            </c:strRef>
          </c:cat>
          <c:val>
            <c:numRef>
              <c:f>Лист7!$B$6:$B$7</c:f>
              <c:numCache>
                <c:formatCode>0.00%</c:formatCode>
                <c:ptCount val="2"/>
                <c:pt idx="0">
                  <c:v>2.3900000000000001E-2</c:v>
                </c:pt>
                <c:pt idx="1">
                  <c:v>0.97609999999999997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0AE-455C-A0BD-09D48C83CA2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8862903751566472"/>
          <c:y val="0.83348674937737643"/>
          <c:w val="0.50778062117235345"/>
          <c:h val="0.158640136304056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Sticky</a:t>
            </a:r>
            <a:r>
              <a:rPr lang="en-US" baseline="0" dirty="0"/>
              <a:t> factor</a:t>
            </a:r>
          </a:p>
          <a:p>
            <a:pPr>
              <a:defRPr/>
            </a:pPr>
            <a:r>
              <a:rPr lang="en-US" baseline="0" dirty="0"/>
              <a:t>Weekly and Monthly 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Лист1!$Z$1</c:f>
              <c:strCache>
                <c:ptCount val="1"/>
                <c:pt idx="0">
                  <c:v>SFW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Лист1!$V$2:$V$304</c:f>
              <c:numCache>
                <c:formatCode>m/d/yyyy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  <c:extLst/>
            </c:numRef>
          </c:cat>
          <c:val>
            <c:numRef>
              <c:f>Лист1!$Z$2:$Z$304</c:f>
              <c:numCache>
                <c:formatCode>0%</c:formatCode>
                <c:ptCount val="301"/>
                <c:pt idx="0">
                  <c:v>8.4745762711864403E-2</c:v>
                </c:pt>
                <c:pt idx="1">
                  <c:v>0.16949152542372881</c:v>
                </c:pt>
                <c:pt idx="2">
                  <c:v>8.4745762711864403E-2</c:v>
                </c:pt>
                <c:pt idx="3">
                  <c:v>0.22033898305084745</c:v>
                </c:pt>
                <c:pt idx="4">
                  <c:v>0.3728813559322034</c:v>
                </c:pt>
                <c:pt idx="5">
                  <c:v>0.3728813559322034</c:v>
                </c:pt>
                <c:pt idx="6">
                  <c:v>0.44067796610169491</c:v>
                </c:pt>
                <c:pt idx="7">
                  <c:v>0.25</c:v>
                </c:pt>
                <c:pt idx="8">
                  <c:v>0.2608695652173913</c:v>
                </c:pt>
                <c:pt idx="9">
                  <c:v>0.32608695652173914</c:v>
                </c:pt>
                <c:pt idx="10">
                  <c:v>0.34782608695652173</c:v>
                </c:pt>
                <c:pt idx="11">
                  <c:v>0.27173913043478259</c:v>
                </c:pt>
                <c:pt idx="12">
                  <c:v>0.36956521739130432</c:v>
                </c:pt>
                <c:pt idx="13">
                  <c:v>0.42391304347826086</c:v>
                </c:pt>
                <c:pt idx="14">
                  <c:v>0.16541353383458646</c:v>
                </c:pt>
                <c:pt idx="15">
                  <c:v>0.2857142857142857</c:v>
                </c:pt>
                <c:pt idx="16">
                  <c:v>0.25563909774436089</c:v>
                </c:pt>
                <c:pt idx="17">
                  <c:v>0.37593984962406013</c:v>
                </c:pt>
                <c:pt idx="18">
                  <c:v>0.32330827067669171</c:v>
                </c:pt>
                <c:pt idx="19">
                  <c:v>0.32330827067669171</c:v>
                </c:pt>
                <c:pt idx="20">
                  <c:v>0.39849624060150374</c:v>
                </c:pt>
                <c:pt idx="21">
                  <c:v>0.34426229508196721</c:v>
                </c:pt>
                <c:pt idx="22">
                  <c:v>0.26229508196721313</c:v>
                </c:pt>
                <c:pt idx="23">
                  <c:v>0.32240437158469948</c:v>
                </c:pt>
                <c:pt idx="24">
                  <c:v>0.32240437158469948</c:v>
                </c:pt>
                <c:pt idx="25">
                  <c:v>0.33333333333333331</c:v>
                </c:pt>
                <c:pt idx="26">
                  <c:v>0.34972677595628415</c:v>
                </c:pt>
                <c:pt idx="27">
                  <c:v>0.34972677595628415</c:v>
                </c:pt>
                <c:pt idx="28">
                  <c:v>0.25742574257425743</c:v>
                </c:pt>
                <c:pt idx="29">
                  <c:v>0.30693069306930693</c:v>
                </c:pt>
                <c:pt idx="30">
                  <c:v>0.2722772277227723</c:v>
                </c:pt>
                <c:pt idx="31">
                  <c:v>0.29702970297029702</c:v>
                </c:pt>
                <c:pt idx="32">
                  <c:v>0.25742574257425743</c:v>
                </c:pt>
                <c:pt idx="33">
                  <c:v>0.30693069306930693</c:v>
                </c:pt>
                <c:pt idx="34">
                  <c:v>0.29207920792079206</c:v>
                </c:pt>
                <c:pt idx="35">
                  <c:v>0.30051813471502592</c:v>
                </c:pt>
                <c:pt idx="36">
                  <c:v>0.27461139896373055</c:v>
                </c:pt>
                <c:pt idx="37">
                  <c:v>0.28497409326424872</c:v>
                </c:pt>
                <c:pt idx="38">
                  <c:v>0.33678756476683935</c:v>
                </c:pt>
                <c:pt idx="39">
                  <c:v>0.27979274611398963</c:v>
                </c:pt>
                <c:pt idx="40">
                  <c:v>0.38341968911917096</c:v>
                </c:pt>
                <c:pt idx="41">
                  <c:v>0.30569948186528495</c:v>
                </c:pt>
                <c:pt idx="42">
                  <c:v>0.26865671641791045</c:v>
                </c:pt>
                <c:pt idx="43">
                  <c:v>0.3383084577114428</c:v>
                </c:pt>
                <c:pt idx="44">
                  <c:v>0.29353233830845771</c:v>
                </c:pt>
                <c:pt idx="45">
                  <c:v>0.30348258706467662</c:v>
                </c:pt>
                <c:pt idx="46">
                  <c:v>0.28855721393034828</c:v>
                </c:pt>
                <c:pt idx="47">
                  <c:v>0.33333333333333331</c:v>
                </c:pt>
                <c:pt idx="48">
                  <c:v>0.30845771144278605</c:v>
                </c:pt>
                <c:pt idx="49">
                  <c:v>0.25728155339805825</c:v>
                </c:pt>
                <c:pt idx="50">
                  <c:v>0.29126213592233008</c:v>
                </c:pt>
                <c:pt idx="51">
                  <c:v>0.32524271844660196</c:v>
                </c:pt>
                <c:pt idx="52">
                  <c:v>0.32524271844660196</c:v>
                </c:pt>
                <c:pt idx="53">
                  <c:v>0.29611650485436891</c:v>
                </c:pt>
                <c:pt idx="54">
                  <c:v>0.30582524271844658</c:v>
                </c:pt>
                <c:pt idx="55">
                  <c:v>0.29611650485436891</c:v>
                </c:pt>
                <c:pt idx="56">
                  <c:v>0.28125</c:v>
                </c:pt>
                <c:pt idx="57">
                  <c:v>0.375</c:v>
                </c:pt>
                <c:pt idx="58">
                  <c:v>0.28125</c:v>
                </c:pt>
                <c:pt idx="59">
                  <c:v>0.34375</c:v>
                </c:pt>
                <c:pt idx="60">
                  <c:v>0.31770833333333331</c:v>
                </c:pt>
                <c:pt idx="61">
                  <c:v>0.30208333333333331</c:v>
                </c:pt>
                <c:pt idx="62">
                  <c:v>0.33333333333333331</c:v>
                </c:pt>
                <c:pt idx="63">
                  <c:v>0.31632653061224492</c:v>
                </c:pt>
                <c:pt idx="64">
                  <c:v>0.23469387755102042</c:v>
                </c:pt>
                <c:pt idx="65">
                  <c:v>0.25</c:v>
                </c:pt>
                <c:pt idx="66">
                  <c:v>0.30102040816326531</c:v>
                </c:pt>
                <c:pt idx="67">
                  <c:v>0.30612244897959184</c:v>
                </c:pt>
                <c:pt idx="68">
                  <c:v>0.27040816326530615</c:v>
                </c:pt>
                <c:pt idx="69">
                  <c:v>0.31122448979591838</c:v>
                </c:pt>
                <c:pt idx="70">
                  <c:v>0.28292682926829266</c:v>
                </c:pt>
                <c:pt idx="71">
                  <c:v>0.31219512195121951</c:v>
                </c:pt>
                <c:pt idx="72">
                  <c:v>0.31707317073170732</c:v>
                </c:pt>
                <c:pt idx="73">
                  <c:v>0.36097560975609755</c:v>
                </c:pt>
                <c:pt idx="74">
                  <c:v>0.28292682926829266</c:v>
                </c:pt>
                <c:pt idx="75">
                  <c:v>0.30243902439024389</c:v>
                </c:pt>
                <c:pt idx="76">
                  <c:v>0.33658536585365856</c:v>
                </c:pt>
                <c:pt idx="77">
                  <c:v>0.30985915492957744</c:v>
                </c:pt>
                <c:pt idx="78">
                  <c:v>0.31455399061032863</c:v>
                </c:pt>
                <c:pt idx="79">
                  <c:v>0.33333333333333331</c:v>
                </c:pt>
                <c:pt idx="80">
                  <c:v>0.31455399061032863</c:v>
                </c:pt>
                <c:pt idx="81">
                  <c:v>0.25821596244131456</c:v>
                </c:pt>
                <c:pt idx="82">
                  <c:v>0.27230046948356806</c:v>
                </c:pt>
                <c:pt idx="83">
                  <c:v>0.34272300469483569</c:v>
                </c:pt>
                <c:pt idx="84">
                  <c:v>0.27884615384615385</c:v>
                </c:pt>
                <c:pt idx="85">
                  <c:v>0.36538461538461536</c:v>
                </c:pt>
                <c:pt idx="86">
                  <c:v>0.29807692307692307</c:v>
                </c:pt>
                <c:pt idx="87">
                  <c:v>0.31730769230769229</c:v>
                </c:pt>
                <c:pt idx="88">
                  <c:v>0.28365384615384615</c:v>
                </c:pt>
                <c:pt idx="89">
                  <c:v>0.29326923076923078</c:v>
                </c:pt>
                <c:pt idx="90">
                  <c:v>0.25</c:v>
                </c:pt>
                <c:pt idx="91">
                  <c:v>0.33333333333333331</c:v>
                </c:pt>
                <c:pt idx="92">
                  <c:v>0.33816425120772947</c:v>
                </c:pt>
                <c:pt idx="93">
                  <c:v>0.21739130434782608</c:v>
                </c:pt>
                <c:pt idx="94">
                  <c:v>0.3719806763285024</c:v>
                </c:pt>
                <c:pt idx="95">
                  <c:v>0.29468599033816423</c:v>
                </c:pt>
                <c:pt idx="96">
                  <c:v>0.27053140096618356</c:v>
                </c:pt>
                <c:pt idx="97">
                  <c:v>0.3188405797101449</c:v>
                </c:pt>
                <c:pt idx="98">
                  <c:v>0.25</c:v>
                </c:pt>
                <c:pt idx="99">
                  <c:v>0.28921568627450983</c:v>
                </c:pt>
                <c:pt idx="100">
                  <c:v>0.31862745098039214</c:v>
                </c:pt>
                <c:pt idx="101">
                  <c:v>0.25980392156862747</c:v>
                </c:pt>
                <c:pt idx="102">
                  <c:v>0.35294117647058826</c:v>
                </c:pt>
                <c:pt idx="103">
                  <c:v>0.30392156862745096</c:v>
                </c:pt>
                <c:pt idx="104">
                  <c:v>0.30392156862745096</c:v>
                </c:pt>
                <c:pt idx="105">
                  <c:v>0.34825870646766172</c:v>
                </c:pt>
                <c:pt idx="106">
                  <c:v>0.30845771144278605</c:v>
                </c:pt>
                <c:pt idx="107">
                  <c:v>0.4079601990049751</c:v>
                </c:pt>
                <c:pt idx="108">
                  <c:v>0.25870646766169153</c:v>
                </c:pt>
                <c:pt idx="109">
                  <c:v>0.32338308457711445</c:v>
                </c:pt>
                <c:pt idx="110">
                  <c:v>0.31840796019900497</c:v>
                </c:pt>
                <c:pt idx="111">
                  <c:v>0.28358208955223879</c:v>
                </c:pt>
                <c:pt idx="112">
                  <c:v>0.27230046948356806</c:v>
                </c:pt>
                <c:pt idx="113">
                  <c:v>0.30985915492957744</c:v>
                </c:pt>
                <c:pt idx="114">
                  <c:v>0.28169014084507044</c:v>
                </c:pt>
                <c:pt idx="115">
                  <c:v>0.25821596244131456</c:v>
                </c:pt>
                <c:pt idx="116">
                  <c:v>0.30516431924882631</c:v>
                </c:pt>
                <c:pt idx="117">
                  <c:v>0.25352112676056338</c:v>
                </c:pt>
                <c:pt idx="118">
                  <c:v>0.30985915492957744</c:v>
                </c:pt>
                <c:pt idx="119">
                  <c:v>0.3364485981308411</c:v>
                </c:pt>
                <c:pt idx="120">
                  <c:v>0.27102803738317754</c:v>
                </c:pt>
                <c:pt idx="121">
                  <c:v>0.2570093457943925</c:v>
                </c:pt>
                <c:pt idx="122">
                  <c:v>0.26168224299065418</c:v>
                </c:pt>
                <c:pt idx="123">
                  <c:v>0.29439252336448596</c:v>
                </c:pt>
                <c:pt idx="124">
                  <c:v>0.32242990654205606</c:v>
                </c:pt>
                <c:pt idx="125">
                  <c:v>0.28971962616822428</c:v>
                </c:pt>
                <c:pt idx="126">
                  <c:v>0.29556650246305421</c:v>
                </c:pt>
                <c:pt idx="127">
                  <c:v>0.29556650246305421</c:v>
                </c:pt>
                <c:pt idx="128">
                  <c:v>0.29556650246305421</c:v>
                </c:pt>
                <c:pt idx="129">
                  <c:v>0.27093596059113301</c:v>
                </c:pt>
                <c:pt idx="130">
                  <c:v>0.30541871921182268</c:v>
                </c:pt>
                <c:pt idx="131">
                  <c:v>0.26108374384236455</c:v>
                </c:pt>
                <c:pt idx="132">
                  <c:v>0.26600985221674878</c:v>
                </c:pt>
                <c:pt idx="133">
                  <c:v>0.22772277227722773</c:v>
                </c:pt>
                <c:pt idx="134">
                  <c:v>0.2722772277227723</c:v>
                </c:pt>
                <c:pt idx="135">
                  <c:v>0.25247524752475248</c:v>
                </c:pt>
                <c:pt idx="136">
                  <c:v>0.28712871287128711</c:v>
                </c:pt>
                <c:pt idx="137">
                  <c:v>0.25247524752475248</c:v>
                </c:pt>
                <c:pt idx="138">
                  <c:v>0.19801980198019803</c:v>
                </c:pt>
                <c:pt idx="139">
                  <c:v>0.24752475247524752</c:v>
                </c:pt>
                <c:pt idx="140">
                  <c:v>0.20359281437125748</c:v>
                </c:pt>
                <c:pt idx="141">
                  <c:v>0.24550898203592814</c:v>
                </c:pt>
                <c:pt idx="142">
                  <c:v>0.23353293413173654</c:v>
                </c:pt>
                <c:pt idx="143">
                  <c:v>0.19161676646706588</c:v>
                </c:pt>
                <c:pt idx="144">
                  <c:v>0.19161676646706588</c:v>
                </c:pt>
                <c:pt idx="145">
                  <c:v>0.18562874251497005</c:v>
                </c:pt>
                <c:pt idx="146">
                  <c:v>0.20958083832335328</c:v>
                </c:pt>
                <c:pt idx="147">
                  <c:v>0.20382165605095542</c:v>
                </c:pt>
                <c:pt idx="148">
                  <c:v>0.1464968152866242</c:v>
                </c:pt>
                <c:pt idx="149">
                  <c:v>0.22292993630573249</c:v>
                </c:pt>
                <c:pt idx="150">
                  <c:v>0.20382165605095542</c:v>
                </c:pt>
                <c:pt idx="151">
                  <c:v>0.15923566878980891</c:v>
                </c:pt>
                <c:pt idx="152">
                  <c:v>0.12101910828025478</c:v>
                </c:pt>
                <c:pt idx="153">
                  <c:v>0.19108280254777071</c:v>
                </c:pt>
                <c:pt idx="154">
                  <c:v>0.14743589743589744</c:v>
                </c:pt>
                <c:pt idx="155">
                  <c:v>0.20512820512820512</c:v>
                </c:pt>
                <c:pt idx="156">
                  <c:v>0.22435897435897437</c:v>
                </c:pt>
                <c:pt idx="157">
                  <c:v>0.1858974358974359</c:v>
                </c:pt>
                <c:pt idx="158">
                  <c:v>0.23076923076923078</c:v>
                </c:pt>
                <c:pt idx="159">
                  <c:v>0.19230769230769232</c:v>
                </c:pt>
                <c:pt idx="160">
                  <c:v>0.16025641025641027</c:v>
                </c:pt>
                <c:pt idx="161">
                  <c:v>0.20261437908496732</c:v>
                </c:pt>
                <c:pt idx="162">
                  <c:v>0.22222222222222221</c:v>
                </c:pt>
                <c:pt idx="163">
                  <c:v>0.1437908496732026</c:v>
                </c:pt>
                <c:pt idx="164">
                  <c:v>0.16993464052287582</c:v>
                </c:pt>
                <c:pt idx="165">
                  <c:v>0.17647058823529413</c:v>
                </c:pt>
                <c:pt idx="166">
                  <c:v>0.18300653594771241</c:v>
                </c:pt>
                <c:pt idx="167">
                  <c:v>0.13071895424836602</c:v>
                </c:pt>
                <c:pt idx="168">
                  <c:v>0.22068965517241379</c:v>
                </c:pt>
                <c:pt idx="169">
                  <c:v>0.19310344827586207</c:v>
                </c:pt>
                <c:pt idx="170">
                  <c:v>0.19310344827586207</c:v>
                </c:pt>
                <c:pt idx="171">
                  <c:v>0.2</c:v>
                </c:pt>
                <c:pt idx="172">
                  <c:v>0.24827586206896551</c:v>
                </c:pt>
                <c:pt idx="173">
                  <c:v>0.16551724137931034</c:v>
                </c:pt>
                <c:pt idx="174">
                  <c:v>0.22758620689655173</c:v>
                </c:pt>
                <c:pt idx="175">
                  <c:v>0.18439716312056736</c:v>
                </c:pt>
                <c:pt idx="176">
                  <c:v>0.1702127659574468</c:v>
                </c:pt>
                <c:pt idx="177">
                  <c:v>0.22695035460992907</c:v>
                </c:pt>
                <c:pt idx="178">
                  <c:v>0.20567375886524822</c:v>
                </c:pt>
                <c:pt idx="179">
                  <c:v>0.15602836879432624</c:v>
                </c:pt>
                <c:pt idx="180">
                  <c:v>0.26241134751773049</c:v>
                </c:pt>
                <c:pt idx="181">
                  <c:v>0.1702127659574468</c:v>
                </c:pt>
                <c:pt idx="182">
                  <c:v>0.18421052631578946</c:v>
                </c:pt>
                <c:pt idx="183">
                  <c:v>0.21052631578947367</c:v>
                </c:pt>
                <c:pt idx="184">
                  <c:v>0.24210526315789474</c:v>
                </c:pt>
                <c:pt idx="185">
                  <c:v>0.18947368421052632</c:v>
                </c:pt>
                <c:pt idx="186">
                  <c:v>0.24210526315789474</c:v>
                </c:pt>
                <c:pt idx="187">
                  <c:v>0.18421052631578946</c:v>
                </c:pt>
                <c:pt idx="188">
                  <c:v>0.27894736842105261</c:v>
                </c:pt>
                <c:pt idx="189">
                  <c:v>0.22746781115879827</c:v>
                </c:pt>
                <c:pt idx="190">
                  <c:v>0.22317596566523606</c:v>
                </c:pt>
                <c:pt idx="191">
                  <c:v>0.27896995708154504</c:v>
                </c:pt>
                <c:pt idx="192">
                  <c:v>0.22317596566523606</c:v>
                </c:pt>
                <c:pt idx="193">
                  <c:v>0.26609442060085836</c:v>
                </c:pt>
                <c:pt idx="194">
                  <c:v>0.33047210300429186</c:v>
                </c:pt>
                <c:pt idx="195">
                  <c:v>0.26180257510729615</c:v>
                </c:pt>
                <c:pt idx="196">
                  <c:v>0.25735294117647056</c:v>
                </c:pt>
                <c:pt idx="197">
                  <c:v>0.24264705882352941</c:v>
                </c:pt>
                <c:pt idx="198">
                  <c:v>0.26838235294117646</c:v>
                </c:pt>
                <c:pt idx="199">
                  <c:v>0.26838235294117646</c:v>
                </c:pt>
                <c:pt idx="200">
                  <c:v>0.29411764705882354</c:v>
                </c:pt>
                <c:pt idx="201">
                  <c:v>0.27573529411764708</c:v>
                </c:pt>
                <c:pt idx="202">
                  <c:v>0.33088235294117646</c:v>
                </c:pt>
                <c:pt idx="203">
                  <c:v>0.26440677966101694</c:v>
                </c:pt>
                <c:pt idx="204">
                  <c:v>0.30508474576271188</c:v>
                </c:pt>
                <c:pt idx="205">
                  <c:v>0.29830508474576273</c:v>
                </c:pt>
                <c:pt idx="206">
                  <c:v>0.28135593220338984</c:v>
                </c:pt>
                <c:pt idx="207">
                  <c:v>0.31186440677966104</c:v>
                </c:pt>
                <c:pt idx="208">
                  <c:v>0.33559322033898303</c:v>
                </c:pt>
                <c:pt idx="209">
                  <c:v>0.31525423728813562</c:v>
                </c:pt>
                <c:pt idx="210">
                  <c:v>0.33236994219653176</c:v>
                </c:pt>
                <c:pt idx="211">
                  <c:v>0.31213872832369943</c:v>
                </c:pt>
                <c:pt idx="212">
                  <c:v>0.32369942196531792</c:v>
                </c:pt>
                <c:pt idx="213">
                  <c:v>0.24855491329479767</c:v>
                </c:pt>
                <c:pt idx="214">
                  <c:v>0.2832369942196532</c:v>
                </c:pt>
                <c:pt idx="215">
                  <c:v>0.28901734104046245</c:v>
                </c:pt>
                <c:pt idx="216">
                  <c:v>0.27456647398843931</c:v>
                </c:pt>
                <c:pt idx="217">
                  <c:v>0.28823529411764703</c:v>
                </c:pt>
                <c:pt idx="218">
                  <c:v>0.26470588235294118</c:v>
                </c:pt>
                <c:pt idx="219">
                  <c:v>0.31470588235294117</c:v>
                </c:pt>
                <c:pt idx="220">
                  <c:v>0.29705882352941176</c:v>
                </c:pt>
                <c:pt idx="221">
                  <c:v>0.30588235294117649</c:v>
                </c:pt>
                <c:pt idx="222">
                  <c:v>0.28823529411764703</c:v>
                </c:pt>
                <c:pt idx="223">
                  <c:v>0.29705882352941176</c:v>
                </c:pt>
                <c:pt idx="224">
                  <c:v>0.27089337175792505</c:v>
                </c:pt>
                <c:pt idx="225">
                  <c:v>0.31123919308357351</c:v>
                </c:pt>
                <c:pt idx="226">
                  <c:v>0.29682997118155618</c:v>
                </c:pt>
                <c:pt idx="227">
                  <c:v>0.2737752161383285</c:v>
                </c:pt>
                <c:pt idx="228">
                  <c:v>0.30835734870317005</c:v>
                </c:pt>
                <c:pt idx="229">
                  <c:v>0.33429394812680113</c:v>
                </c:pt>
                <c:pt idx="230">
                  <c:v>0.31412103746397696</c:v>
                </c:pt>
                <c:pt idx="231">
                  <c:v>0.21875</c:v>
                </c:pt>
                <c:pt idx="232">
                  <c:v>0.25520833333333331</c:v>
                </c:pt>
                <c:pt idx="233">
                  <c:v>0.29947916666666669</c:v>
                </c:pt>
                <c:pt idx="234">
                  <c:v>0.24739583333333334</c:v>
                </c:pt>
                <c:pt idx="235">
                  <c:v>0.27604166666666669</c:v>
                </c:pt>
                <c:pt idx="236">
                  <c:v>0.30729166666666669</c:v>
                </c:pt>
                <c:pt idx="237">
                  <c:v>0.33072916666666669</c:v>
                </c:pt>
                <c:pt idx="238">
                  <c:v>0.1702127659574468</c:v>
                </c:pt>
                <c:pt idx="239">
                  <c:v>0.2144026186579378</c:v>
                </c:pt>
                <c:pt idx="240">
                  <c:v>0.21276595744680851</c:v>
                </c:pt>
                <c:pt idx="241">
                  <c:v>0.22585924713584288</c:v>
                </c:pt>
                <c:pt idx="242">
                  <c:v>0.27332242225859249</c:v>
                </c:pt>
                <c:pt idx="243">
                  <c:v>0.27823240589198034</c:v>
                </c:pt>
                <c:pt idx="244">
                  <c:v>0.27004909983633391</c:v>
                </c:pt>
                <c:pt idx="245">
                  <c:v>0.20926966292134833</c:v>
                </c:pt>
                <c:pt idx="246">
                  <c:v>0.21207865168539325</c:v>
                </c:pt>
                <c:pt idx="247">
                  <c:v>0.24297752808988765</c:v>
                </c:pt>
                <c:pt idx="248">
                  <c:v>0.21067415730337077</c:v>
                </c:pt>
                <c:pt idx="249">
                  <c:v>0.22752808988764045</c:v>
                </c:pt>
                <c:pt idx="250">
                  <c:v>0.24578651685393257</c:v>
                </c:pt>
                <c:pt idx="251">
                  <c:v>0.24719101123595505</c:v>
                </c:pt>
                <c:pt idx="252">
                  <c:v>0.23316062176165803</c:v>
                </c:pt>
                <c:pt idx="253">
                  <c:v>0.21761658031088082</c:v>
                </c:pt>
                <c:pt idx="254">
                  <c:v>0.23963730569948186</c:v>
                </c:pt>
                <c:pt idx="255">
                  <c:v>0.2344559585492228</c:v>
                </c:pt>
                <c:pt idx="256">
                  <c:v>0.22279792746113988</c:v>
                </c:pt>
                <c:pt idx="257">
                  <c:v>0.2422279792746114</c:v>
                </c:pt>
                <c:pt idx="258">
                  <c:v>0.28238341968911918</c:v>
                </c:pt>
                <c:pt idx="259">
                  <c:v>0.28048780487804881</c:v>
                </c:pt>
                <c:pt idx="260">
                  <c:v>0.29573170731707316</c:v>
                </c:pt>
                <c:pt idx="261">
                  <c:v>0.19969512195121952</c:v>
                </c:pt>
                <c:pt idx="262">
                  <c:v>0.26829268292682928</c:v>
                </c:pt>
                <c:pt idx="263">
                  <c:v>0.2073170731707317</c:v>
                </c:pt>
                <c:pt idx="264">
                  <c:v>0.23323170731707318</c:v>
                </c:pt>
                <c:pt idx="265">
                  <c:v>0.2423780487804878</c:v>
                </c:pt>
                <c:pt idx="266">
                  <c:v>0.21633888048411498</c:v>
                </c:pt>
                <c:pt idx="267">
                  <c:v>0.23600605143721634</c:v>
                </c:pt>
                <c:pt idx="268">
                  <c:v>0.22844175491679275</c:v>
                </c:pt>
                <c:pt idx="269">
                  <c:v>0.22390317700453857</c:v>
                </c:pt>
                <c:pt idx="270">
                  <c:v>0.2783661119515885</c:v>
                </c:pt>
                <c:pt idx="271">
                  <c:v>0.30862329803328292</c:v>
                </c:pt>
                <c:pt idx="272">
                  <c:v>0.32526475037821484</c:v>
                </c:pt>
                <c:pt idx="273">
                  <c:v>0.2832618025751073</c:v>
                </c:pt>
                <c:pt idx="274">
                  <c:v>0.28469241773962806</c:v>
                </c:pt>
                <c:pt idx="275">
                  <c:v>0.26895565092989987</c:v>
                </c:pt>
                <c:pt idx="276">
                  <c:v>0.28183118741058655</c:v>
                </c:pt>
                <c:pt idx="277">
                  <c:v>0.27467811158798283</c:v>
                </c:pt>
                <c:pt idx="278">
                  <c:v>0.28612303290414881</c:v>
                </c:pt>
                <c:pt idx="279">
                  <c:v>0.27467811158798283</c:v>
                </c:pt>
                <c:pt idx="280">
                  <c:v>0.28013029315960913</c:v>
                </c:pt>
                <c:pt idx="281">
                  <c:v>0.26058631921824105</c:v>
                </c:pt>
                <c:pt idx="282">
                  <c:v>0.2736156351791531</c:v>
                </c:pt>
                <c:pt idx="283">
                  <c:v>0.27850162866449513</c:v>
                </c:pt>
                <c:pt idx="284">
                  <c:v>0.250814332247557</c:v>
                </c:pt>
                <c:pt idx="285">
                  <c:v>0.23778501628664495</c:v>
                </c:pt>
                <c:pt idx="286">
                  <c:v>0.27035830618892509</c:v>
                </c:pt>
                <c:pt idx="287">
                  <c:v>0.24587155963302754</c:v>
                </c:pt>
                <c:pt idx="288">
                  <c:v>0.27339449541284405</c:v>
                </c:pt>
                <c:pt idx="289">
                  <c:v>0.24220183486238533</c:v>
                </c:pt>
                <c:pt idx="290">
                  <c:v>0.24036697247706423</c:v>
                </c:pt>
                <c:pt idx="291">
                  <c:v>0.19082568807339451</c:v>
                </c:pt>
                <c:pt idx="292">
                  <c:v>0.19266055045871561</c:v>
                </c:pt>
                <c:pt idx="293">
                  <c:v>0.19266055045871561</c:v>
                </c:pt>
                <c:pt idx="294">
                  <c:v>0.2132701421800948</c:v>
                </c:pt>
                <c:pt idx="295">
                  <c:v>0.23933649289099526</c:v>
                </c:pt>
                <c:pt idx="296">
                  <c:v>0.21800947867298578</c:v>
                </c:pt>
                <c:pt idx="297">
                  <c:v>0.16113744075829384</c:v>
                </c:pt>
                <c:pt idx="298">
                  <c:v>0.17772511848341233</c:v>
                </c:pt>
                <c:pt idx="299">
                  <c:v>0.17298578199052134</c:v>
                </c:pt>
                <c:pt idx="300">
                  <c:v>0.16824644549763032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FA95-4F99-89D7-4179CF8CBF09}"/>
            </c:ext>
          </c:extLst>
        </c:ser>
        <c:ser>
          <c:idx val="1"/>
          <c:order val="1"/>
          <c:tx>
            <c:strRef>
              <c:f>Лист1!$AA$1</c:f>
              <c:strCache>
                <c:ptCount val="1"/>
                <c:pt idx="0">
                  <c:v>SFM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Лист1!$V$2:$V$304</c:f>
              <c:numCache>
                <c:formatCode>m/d/yyyy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  <c:extLst/>
            </c:numRef>
          </c:cat>
          <c:val>
            <c:numRef>
              <c:f>Лист1!$AA$2:$AA$304</c:f>
              <c:numCache>
                <c:formatCode>0%</c:formatCode>
                <c:ptCount val="301"/>
                <c:pt idx="0">
                  <c:v>0.30569948186528495</c:v>
                </c:pt>
                <c:pt idx="1">
                  <c:v>0.30569948186528495</c:v>
                </c:pt>
                <c:pt idx="2">
                  <c:v>0.30569948186528495</c:v>
                </c:pt>
                <c:pt idx="3">
                  <c:v>0.30569948186528495</c:v>
                </c:pt>
                <c:pt idx="4">
                  <c:v>0.30569948186528495</c:v>
                </c:pt>
                <c:pt idx="5">
                  <c:v>0.30569948186528495</c:v>
                </c:pt>
                <c:pt idx="6">
                  <c:v>0.30569948186528495</c:v>
                </c:pt>
                <c:pt idx="7">
                  <c:v>0.47668393782383417</c:v>
                </c:pt>
                <c:pt idx="8">
                  <c:v>0.47668393782383417</c:v>
                </c:pt>
                <c:pt idx="9">
                  <c:v>0.47668393782383417</c:v>
                </c:pt>
                <c:pt idx="10">
                  <c:v>0.47668393782383417</c:v>
                </c:pt>
                <c:pt idx="11">
                  <c:v>0.47668393782383417</c:v>
                </c:pt>
                <c:pt idx="12">
                  <c:v>0.47668393782383417</c:v>
                </c:pt>
                <c:pt idx="13">
                  <c:v>0.47668393782383417</c:v>
                </c:pt>
                <c:pt idx="14">
                  <c:v>0.68911917098445596</c:v>
                </c:pt>
                <c:pt idx="15">
                  <c:v>0.68911917098445596</c:v>
                </c:pt>
                <c:pt idx="16">
                  <c:v>0.68911917098445596</c:v>
                </c:pt>
                <c:pt idx="17">
                  <c:v>0.68911917098445596</c:v>
                </c:pt>
                <c:pt idx="18">
                  <c:v>0.68911917098445596</c:v>
                </c:pt>
                <c:pt idx="19">
                  <c:v>0.68911917098445596</c:v>
                </c:pt>
                <c:pt idx="20">
                  <c:v>0.68911917098445596</c:v>
                </c:pt>
                <c:pt idx="21">
                  <c:v>0.94818652849740936</c:v>
                </c:pt>
                <c:pt idx="22">
                  <c:v>0.94818652849740936</c:v>
                </c:pt>
                <c:pt idx="23">
                  <c:v>0.94818652849740936</c:v>
                </c:pt>
                <c:pt idx="24">
                  <c:v>0.94818652849740936</c:v>
                </c:pt>
                <c:pt idx="25">
                  <c:v>0.94818652849740936</c:v>
                </c:pt>
                <c:pt idx="26">
                  <c:v>0.94818652849740936</c:v>
                </c:pt>
                <c:pt idx="27">
                  <c:v>0.94818652849740936</c:v>
                </c:pt>
                <c:pt idx="28">
                  <c:v>0.55191256830601088</c:v>
                </c:pt>
                <c:pt idx="29">
                  <c:v>0.55191256830601088</c:v>
                </c:pt>
                <c:pt idx="30">
                  <c:v>0.55191256830601088</c:v>
                </c:pt>
                <c:pt idx="31">
                  <c:v>0.55191256830601088</c:v>
                </c:pt>
                <c:pt idx="32">
                  <c:v>0.55191256830601088</c:v>
                </c:pt>
                <c:pt idx="33">
                  <c:v>0.55191256830601088</c:v>
                </c:pt>
                <c:pt idx="34">
                  <c:v>0.55191256830601088</c:v>
                </c:pt>
                <c:pt idx="35">
                  <c:v>0.52732240437158473</c:v>
                </c:pt>
                <c:pt idx="36">
                  <c:v>0.52732240437158473</c:v>
                </c:pt>
                <c:pt idx="37">
                  <c:v>0.52732240437158473</c:v>
                </c:pt>
                <c:pt idx="38">
                  <c:v>0.52732240437158473</c:v>
                </c:pt>
                <c:pt idx="39">
                  <c:v>0.52732240437158473</c:v>
                </c:pt>
                <c:pt idx="40">
                  <c:v>0.52732240437158473</c:v>
                </c:pt>
                <c:pt idx="41">
                  <c:v>0.52732240437158473</c:v>
                </c:pt>
                <c:pt idx="42">
                  <c:v>0.54918032786885251</c:v>
                </c:pt>
                <c:pt idx="43">
                  <c:v>0.54918032786885251</c:v>
                </c:pt>
                <c:pt idx="44">
                  <c:v>0.54918032786885251</c:v>
                </c:pt>
                <c:pt idx="45">
                  <c:v>0.54918032786885251</c:v>
                </c:pt>
                <c:pt idx="46">
                  <c:v>0.54918032786885251</c:v>
                </c:pt>
                <c:pt idx="47">
                  <c:v>0.54918032786885251</c:v>
                </c:pt>
                <c:pt idx="48">
                  <c:v>0.54918032786885251</c:v>
                </c:pt>
                <c:pt idx="49">
                  <c:v>0.56284153005464477</c:v>
                </c:pt>
                <c:pt idx="50">
                  <c:v>0.56284153005464477</c:v>
                </c:pt>
                <c:pt idx="51">
                  <c:v>0.56284153005464477</c:v>
                </c:pt>
                <c:pt idx="52">
                  <c:v>0.56284153005464477</c:v>
                </c:pt>
                <c:pt idx="53">
                  <c:v>0.56284153005464477</c:v>
                </c:pt>
                <c:pt idx="54">
                  <c:v>0.56284153005464477</c:v>
                </c:pt>
                <c:pt idx="55">
                  <c:v>0.56284153005464477</c:v>
                </c:pt>
                <c:pt idx="56">
                  <c:v>0.52459016393442626</c:v>
                </c:pt>
                <c:pt idx="57">
                  <c:v>0.52459016393442626</c:v>
                </c:pt>
                <c:pt idx="58">
                  <c:v>0.52459016393442626</c:v>
                </c:pt>
                <c:pt idx="59">
                  <c:v>0.50793650793650791</c:v>
                </c:pt>
                <c:pt idx="60">
                  <c:v>0.50793650793650791</c:v>
                </c:pt>
                <c:pt idx="61">
                  <c:v>0.50793650793650791</c:v>
                </c:pt>
                <c:pt idx="62">
                  <c:v>0.50793650793650791</c:v>
                </c:pt>
                <c:pt idx="63">
                  <c:v>0.51851851851851849</c:v>
                </c:pt>
                <c:pt idx="64">
                  <c:v>0.51851851851851849</c:v>
                </c:pt>
                <c:pt idx="65">
                  <c:v>0.51851851851851849</c:v>
                </c:pt>
                <c:pt idx="66">
                  <c:v>0.51851851851851849</c:v>
                </c:pt>
                <c:pt idx="67">
                  <c:v>0.51851851851851849</c:v>
                </c:pt>
                <c:pt idx="68">
                  <c:v>0.51851851851851849</c:v>
                </c:pt>
                <c:pt idx="69">
                  <c:v>0.51851851851851849</c:v>
                </c:pt>
                <c:pt idx="70">
                  <c:v>0.54232804232804233</c:v>
                </c:pt>
                <c:pt idx="71">
                  <c:v>0.54232804232804233</c:v>
                </c:pt>
                <c:pt idx="72">
                  <c:v>0.54232804232804233</c:v>
                </c:pt>
                <c:pt idx="73">
                  <c:v>0.54232804232804233</c:v>
                </c:pt>
                <c:pt idx="74">
                  <c:v>0.54232804232804233</c:v>
                </c:pt>
                <c:pt idx="75">
                  <c:v>0.54232804232804233</c:v>
                </c:pt>
                <c:pt idx="76">
                  <c:v>0.54232804232804233</c:v>
                </c:pt>
                <c:pt idx="77">
                  <c:v>0.56349206349206349</c:v>
                </c:pt>
                <c:pt idx="78">
                  <c:v>0.56349206349206349</c:v>
                </c:pt>
                <c:pt idx="79">
                  <c:v>0.56349206349206349</c:v>
                </c:pt>
                <c:pt idx="80">
                  <c:v>0.56349206349206349</c:v>
                </c:pt>
                <c:pt idx="81">
                  <c:v>0.56349206349206349</c:v>
                </c:pt>
                <c:pt idx="82">
                  <c:v>0.56349206349206349</c:v>
                </c:pt>
                <c:pt idx="83">
                  <c:v>0.56349206349206349</c:v>
                </c:pt>
                <c:pt idx="84">
                  <c:v>0.55026455026455023</c:v>
                </c:pt>
                <c:pt idx="85">
                  <c:v>0.55026455026455023</c:v>
                </c:pt>
                <c:pt idx="86">
                  <c:v>0.55026455026455023</c:v>
                </c:pt>
                <c:pt idx="87">
                  <c:v>0.55026455026455023</c:v>
                </c:pt>
                <c:pt idx="88">
                  <c:v>0.55026455026455023</c:v>
                </c:pt>
                <c:pt idx="89">
                  <c:v>0.52926208651399487</c:v>
                </c:pt>
                <c:pt idx="90">
                  <c:v>0.52926208651399487</c:v>
                </c:pt>
                <c:pt idx="91">
                  <c:v>0.52671755725190839</c:v>
                </c:pt>
                <c:pt idx="92">
                  <c:v>0.52671755725190839</c:v>
                </c:pt>
                <c:pt idx="93">
                  <c:v>0.52671755725190839</c:v>
                </c:pt>
                <c:pt idx="94">
                  <c:v>0.52671755725190839</c:v>
                </c:pt>
                <c:pt idx="95">
                  <c:v>0.52671755725190839</c:v>
                </c:pt>
                <c:pt idx="96">
                  <c:v>0.52671755725190839</c:v>
                </c:pt>
                <c:pt idx="97">
                  <c:v>0.52671755725190839</c:v>
                </c:pt>
                <c:pt idx="98">
                  <c:v>0.51908396946564883</c:v>
                </c:pt>
                <c:pt idx="99">
                  <c:v>0.51908396946564883</c:v>
                </c:pt>
                <c:pt idx="100">
                  <c:v>0.51908396946564883</c:v>
                </c:pt>
                <c:pt idx="101">
                  <c:v>0.51908396946564883</c:v>
                </c:pt>
                <c:pt idx="102">
                  <c:v>0.51908396946564883</c:v>
                </c:pt>
                <c:pt idx="103">
                  <c:v>0.51908396946564883</c:v>
                </c:pt>
                <c:pt idx="104">
                  <c:v>0.51908396946564883</c:v>
                </c:pt>
                <c:pt idx="105">
                  <c:v>0.51145038167938928</c:v>
                </c:pt>
                <c:pt idx="106">
                  <c:v>0.51145038167938928</c:v>
                </c:pt>
                <c:pt idx="107">
                  <c:v>0.51145038167938928</c:v>
                </c:pt>
                <c:pt idx="108">
                  <c:v>0.51145038167938928</c:v>
                </c:pt>
                <c:pt idx="109">
                  <c:v>0.51145038167938928</c:v>
                </c:pt>
                <c:pt idx="110">
                  <c:v>0.51145038167938928</c:v>
                </c:pt>
                <c:pt idx="111">
                  <c:v>0.51145038167938928</c:v>
                </c:pt>
                <c:pt idx="112">
                  <c:v>0.5419847328244275</c:v>
                </c:pt>
                <c:pt idx="113">
                  <c:v>0.5419847328244275</c:v>
                </c:pt>
                <c:pt idx="114">
                  <c:v>0.5419847328244275</c:v>
                </c:pt>
                <c:pt idx="115">
                  <c:v>0.5419847328244275</c:v>
                </c:pt>
                <c:pt idx="116">
                  <c:v>0.5419847328244275</c:v>
                </c:pt>
                <c:pt idx="117">
                  <c:v>0.5419847328244275</c:v>
                </c:pt>
                <c:pt idx="118">
                  <c:v>0.5419847328244275</c:v>
                </c:pt>
                <c:pt idx="119">
                  <c:v>0.54452926208651398</c:v>
                </c:pt>
                <c:pt idx="120">
                  <c:v>0.50234741784037562</c:v>
                </c:pt>
                <c:pt idx="121">
                  <c:v>0.50234741784037562</c:v>
                </c:pt>
                <c:pt idx="122">
                  <c:v>0.50234741784037562</c:v>
                </c:pt>
                <c:pt idx="123">
                  <c:v>0.50234741784037562</c:v>
                </c:pt>
                <c:pt idx="124">
                  <c:v>0.50234741784037562</c:v>
                </c:pt>
                <c:pt idx="125">
                  <c:v>0.50234741784037562</c:v>
                </c:pt>
                <c:pt idx="126">
                  <c:v>0.47652582159624413</c:v>
                </c:pt>
                <c:pt idx="127">
                  <c:v>0.47652582159624413</c:v>
                </c:pt>
                <c:pt idx="128">
                  <c:v>0.47652582159624413</c:v>
                </c:pt>
                <c:pt idx="129">
                  <c:v>0.47652582159624413</c:v>
                </c:pt>
                <c:pt idx="130">
                  <c:v>0.47652582159624413</c:v>
                </c:pt>
                <c:pt idx="131">
                  <c:v>0.47652582159624413</c:v>
                </c:pt>
                <c:pt idx="132">
                  <c:v>0.47652582159624413</c:v>
                </c:pt>
                <c:pt idx="133">
                  <c:v>0.47417840375586856</c:v>
                </c:pt>
                <c:pt idx="134">
                  <c:v>0.47417840375586856</c:v>
                </c:pt>
                <c:pt idx="135">
                  <c:v>0.47417840375586856</c:v>
                </c:pt>
                <c:pt idx="136">
                  <c:v>0.47417840375586856</c:v>
                </c:pt>
                <c:pt idx="137">
                  <c:v>0.47417840375586856</c:v>
                </c:pt>
                <c:pt idx="138">
                  <c:v>0.47417840375586856</c:v>
                </c:pt>
                <c:pt idx="139">
                  <c:v>0.47417840375586856</c:v>
                </c:pt>
                <c:pt idx="140">
                  <c:v>0.392018779342723</c:v>
                </c:pt>
                <c:pt idx="141">
                  <c:v>0.392018779342723</c:v>
                </c:pt>
                <c:pt idx="142">
                  <c:v>0.392018779342723</c:v>
                </c:pt>
                <c:pt idx="143">
                  <c:v>0.392018779342723</c:v>
                </c:pt>
                <c:pt idx="144">
                  <c:v>0.392018779342723</c:v>
                </c:pt>
                <c:pt idx="145">
                  <c:v>0.392018779342723</c:v>
                </c:pt>
                <c:pt idx="146">
                  <c:v>0.392018779342723</c:v>
                </c:pt>
                <c:pt idx="147">
                  <c:v>0.36854460093896713</c:v>
                </c:pt>
                <c:pt idx="148">
                  <c:v>0.36854460093896713</c:v>
                </c:pt>
                <c:pt idx="149">
                  <c:v>0.36854460093896713</c:v>
                </c:pt>
                <c:pt idx="150">
                  <c:v>0.40256410256410258</c:v>
                </c:pt>
                <c:pt idx="151">
                  <c:v>0.40256410256410258</c:v>
                </c:pt>
                <c:pt idx="152">
                  <c:v>0.40256410256410258</c:v>
                </c:pt>
                <c:pt idx="153">
                  <c:v>0.40256410256410258</c:v>
                </c:pt>
                <c:pt idx="154">
                  <c:v>0.4</c:v>
                </c:pt>
                <c:pt idx="155">
                  <c:v>0.4</c:v>
                </c:pt>
                <c:pt idx="156">
                  <c:v>0.4</c:v>
                </c:pt>
                <c:pt idx="157">
                  <c:v>0.4</c:v>
                </c:pt>
                <c:pt idx="158">
                  <c:v>0.4</c:v>
                </c:pt>
                <c:pt idx="159">
                  <c:v>0.4</c:v>
                </c:pt>
                <c:pt idx="160">
                  <c:v>0.4</c:v>
                </c:pt>
                <c:pt idx="161">
                  <c:v>0.3923076923076923</c:v>
                </c:pt>
                <c:pt idx="162">
                  <c:v>0.3923076923076923</c:v>
                </c:pt>
                <c:pt idx="163">
                  <c:v>0.3923076923076923</c:v>
                </c:pt>
                <c:pt idx="164">
                  <c:v>0.3923076923076923</c:v>
                </c:pt>
                <c:pt idx="165">
                  <c:v>0.3923076923076923</c:v>
                </c:pt>
                <c:pt idx="166">
                  <c:v>0.3923076923076923</c:v>
                </c:pt>
                <c:pt idx="167">
                  <c:v>0.3923076923076923</c:v>
                </c:pt>
                <c:pt idx="168">
                  <c:v>0.37179487179487181</c:v>
                </c:pt>
                <c:pt idx="169">
                  <c:v>0.37179487179487181</c:v>
                </c:pt>
                <c:pt idx="170">
                  <c:v>0.37179487179487181</c:v>
                </c:pt>
                <c:pt idx="171">
                  <c:v>0.37179487179487181</c:v>
                </c:pt>
                <c:pt idx="172">
                  <c:v>0.37179487179487181</c:v>
                </c:pt>
                <c:pt idx="173">
                  <c:v>0.37179487179487181</c:v>
                </c:pt>
                <c:pt idx="174">
                  <c:v>0.37179487179487181</c:v>
                </c:pt>
                <c:pt idx="175">
                  <c:v>0.36153846153846153</c:v>
                </c:pt>
                <c:pt idx="176">
                  <c:v>0.36153846153846153</c:v>
                </c:pt>
                <c:pt idx="177">
                  <c:v>0.36153846153846153</c:v>
                </c:pt>
                <c:pt idx="178">
                  <c:v>0.36153846153846153</c:v>
                </c:pt>
                <c:pt idx="179">
                  <c:v>0.36153846153846153</c:v>
                </c:pt>
                <c:pt idx="180">
                  <c:v>0.36153846153846153</c:v>
                </c:pt>
                <c:pt idx="181">
                  <c:v>0.26305970149253732</c:v>
                </c:pt>
                <c:pt idx="182">
                  <c:v>0.35447761194029853</c:v>
                </c:pt>
                <c:pt idx="183">
                  <c:v>0.35447761194029853</c:v>
                </c:pt>
                <c:pt idx="184">
                  <c:v>0.35447761194029853</c:v>
                </c:pt>
                <c:pt idx="185">
                  <c:v>0.35447761194029853</c:v>
                </c:pt>
                <c:pt idx="186">
                  <c:v>0.35447761194029853</c:v>
                </c:pt>
                <c:pt idx="187">
                  <c:v>0.35447761194029853</c:v>
                </c:pt>
                <c:pt idx="188">
                  <c:v>0.35447761194029853</c:v>
                </c:pt>
                <c:pt idx="189">
                  <c:v>0.43470149253731344</c:v>
                </c:pt>
                <c:pt idx="190">
                  <c:v>0.43470149253731344</c:v>
                </c:pt>
                <c:pt idx="191">
                  <c:v>0.43470149253731344</c:v>
                </c:pt>
                <c:pt idx="192">
                  <c:v>0.43470149253731344</c:v>
                </c:pt>
                <c:pt idx="193">
                  <c:v>0.43470149253731344</c:v>
                </c:pt>
                <c:pt idx="194">
                  <c:v>0.43470149253731344</c:v>
                </c:pt>
                <c:pt idx="195">
                  <c:v>0.43470149253731344</c:v>
                </c:pt>
                <c:pt idx="196">
                  <c:v>0.5074626865671642</c:v>
                </c:pt>
                <c:pt idx="197">
                  <c:v>0.5074626865671642</c:v>
                </c:pt>
                <c:pt idx="198">
                  <c:v>0.5074626865671642</c:v>
                </c:pt>
                <c:pt idx="199">
                  <c:v>0.5074626865671642</c:v>
                </c:pt>
                <c:pt idx="200">
                  <c:v>0.5074626865671642</c:v>
                </c:pt>
                <c:pt idx="201">
                  <c:v>0.5074626865671642</c:v>
                </c:pt>
                <c:pt idx="202">
                  <c:v>0.5074626865671642</c:v>
                </c:pt>
                <c:pt idx="203">
                  <c:v>0.55037313432835822</c:v>
                </c:pt>
                <c:pt idx="204">
                  <c:v>0.55037313432835822</c:v>
                </c:pt>
                <c:pt idx="205">
                  <c:v>0.55037313432835822</c:v>
                </c:pt>
                <c:pt idx="206">
                  <c:v>0.55037313432835822</c:v>
                </c:pt>
                <c:pt idx="207">
                  <c:v>0.55037313432835822</c:v>
                </c:pt>
                <c:pt idx="208">
                  <c:v>0.55037313432835822</c:v>
                </c:pt>
                <c:pt idx="209">
                  <c:v>0.55037313432835822</c:v>
                </c:pt>
                <c:pt idx="210">
                  <c:v>0.64552238805970152</c:v>
                </c:pt>
                <c:pt idx="211">
                  <c:v>0.64552238805970152</c:v>
                </c:pt>
                <c:pt idx="212">
                  <c:v>0.49712643678160917</c:v>
                </c:pt>
                <c:pt idx="213">
                  <c:v>0.49712643678160917</c:v>
                </c:pt>
                <c:pt idx="214">
                  <c:v>0.49712643678160917</c:v>
                </c:pt>
                <c:pt idx="215">
                  <c:v>0.49712643678160917</c:v>
                </c:pt>
                <c:pt idx="216">
                  <c:v>0.49712643678160917</c:v>
                </c:pt>
                <c:pt idx="217">
                  <c:v>0.4885057471264368</c:v>
                </c:pt>
                <c:pt idx="218">
                  <c:v>0.4885057471264368</c:v>
                </c:pt>
                <c:pt idx="219">
                  <c:v>0.4885057471264368</c:v>
                </c:pt>
                <c:pt idx="220">
                  <c:v>0.4885057471264368</c:v>
                </c:pt>
                <c:pt idx="221">
                  <c:v>0.4885057471264368</c:v>
                </c:pt>
                <c:pt idx="222">
                  <c:v>0.4885057471264368</c:v>
                </c:pt>
                <c:pt idx="223">
                  <c:v>0.4885057471264368</c:v>
                </c:pt>
                <c:pt idx="224">
                  <c:v>0.49856321839080459</c:v>
                </c:pt>
                <c:pt idx="225">
                  <c:v>0.49856321839080459</c:v>
                </c:pt>
                <c:pt idx="226">
                  <c:v>0.49856321839080459</c:v>
                </c:pt>
                <c:pt idx="227">
                  <c:v>0.49856321839080459</c:v>
                </c:pt>
                <c:pt idx="228">
                  <c:v>0.49856321839080459</c:v>
                </c:pt>
                <c:pt idx="229">
                  <c:v>0.49856321839080459</c:v>
                </c:pt>
                <c:pt idx="230">
                  <c:v>0.49856321839080459</c:v>
                </c:pt>
                <c:pt idx="231">
                  <c:v>0.55172413793103448</c:v>
                </c:pt>
                <c:pt idx="232">
                  <c:v>0.55172413793103448</c:v>
                </c:pt>
                <c:pt idx="233">
                  <c:v>0.55172413793103448</c:v>
                </c:pt>
                <c:pt idx="234">
                  <c:v>0.55172413793103448</c:v>
                </c:pt>
                <c:pt idx="235">
                  <c:v>0.55172413793103448</c:v>
                </c:pt>
                <c:pt idx="236">
                  <c:v>0.55172413793103448</c:v>
                </c:pt>
                <c:pt idx="237">
                  <c:v>0.55172413793103448</c:v>
                </c:pt>
                <c:pt idx="238">
                  <c:v>0.87787356321839083</c:v>
                </c:pt>
                <c:pt idx="239">
                  <c:v>0.87787356321839083</c:v>
                </c:pt>
                <c:pt idx="240">
                  <c:v>0.39572538860103629</c:v>
                </c:pt>
                <c:pt idx="241">
                  <c:v>0.39572538860103629</c:v>
                </c:pt>
                <c:pt idx="242">
                  <c:v>0.39572538860103629</c:v>
                </c:pt>
                <c:pt idx="243">
                  <c:v>0.39572538860103629</c:v>
                </c:pt>
                <c:pt idx="244">
                  <c:v>0.39572538860103629</c:v>
                </c:pt>
                <c:pt idx="245">
                  <c:v>0.46113989637305697</c:v>
                </c:pt>
                <c:pt idx="246">
                  <c:v>0.46113989637305697</c:v>
                </c:pt>
                <c:pt idx="247">
                  <c:v>0.46113989637305697</c:v>
                </c:pt>
                <c:pt idx="248">
                  <c:v>0.46113989637305697</c:v>
                </c:pt>
                <c:pt idx="249">
                  <c:v>0.46113989637305697</c:v>
                </c:pt>
                <c:pt idx="250">
                  <c:v>0.46113989637305697</c:v>
                </c:pt>
                <c:pt idx="251">
                  <c:v>0.46113989637305697</c:v>
                </c:pt>
                <c:pt idx="252">
                  <c:v>0.5</c:v>
                </c:pt>
                <c:pt idx="253">
                  <c:v>0.5</c:v>
                </c:pt>
                <c:pt idx="254">
                  <c:v>0.5</c:v>
                </c:pt>
                <c:pt idx="255">
                  <c:v>0.5</c:v>
                </c:pt>
                <c:pt idx="256">
                  <c:v>0.5</c:v>
                </c:pt>
                <c:pt idx="257">
                  <c:v>0.5</c:v>
                </c:pt>
                <c:pt idx="258">
                  <c:v>0.5</c:v>
                </c:pt>
                <c:pt idx="259">
                  <c:v>0.42487046632124353</c:v>
                </c:pt>
                <c:pt idx="260">
                  <c:v>0.42487046632124353</c:v>
                </c:pt>
                <c:pt idx="261">
                  <c:v>0.42487046632124353</c:v>
                </c:pt>
                <c:pt idx="262">
                  <c:v>0.42487046632124353</c:v>
                </c:pt>
                <c:pt idx="263">
                  <c:v>0.42487046632124353</c:v>
                </c:pt>
                <c:pt idx="264">
                  <c:v>0.42487046632124353</c:v>
                </c:pt>
                <c:pt idx="265">
                  <c:v>0.42487046632124353</c:v>
                </c:pt>
                <c:pt idx="266">
                  <c:v>0.42810880829015546</c:v>
                </c:pt>
                <c:pt idx="267">
                  <c:v>0.42810880829015546</c:v>
                </c:pt>
                <c:pt idx="268">
                  <c:v>0.42810880829015546</c:v>
                </c:pt>
                <c:pt idx="269">
                  <c:v>0.42810880829015546</c:v>
                </c:pt>
                <c:pt idx="270">
                  <c:v>0.42810880829015546</c:v>
                </c:pt>
                <c:pt idx="271">
                  <c:v>0.64362220058422592</c:v>
                </c:pt>
                <c:pt idx="272">
                  <c:v>0.64362220058422592</c:v>
                </c:pt>
                <c:pt idx="273">
                  <c:v>0.68062317429406038</c:v>
                </c:pt>
                <c:pt idx="274">
                  <c:v>0.68062317429406038</c:v>
                </c:pt>
                <c:pt idx="275">
                  <c:v>0.68062317429406038</c:v>
                </c:pt>
                <c:pt idx="276">
                  <c:v>0.68062317429406038</c:v>
                </c:pt>
                <c:pt idx="277">
                  <c:v>0.68062317429406038</c:v>
                </c:pt>
                <c:pt idx="278">
                  <c:v>0.68062317429406038</c:v>
                </c:pt>
                <c:pt idx="279">
                  <c:v>0.68062317429406038</c:v>
                </c:pt>
                <c:pt idx="280">
                  <c:v>0.5978578383641675</c:v>
                </c:pt>
                <c:pt idx="281">
                  <c:v>0.5978578383641675</c:v>
                </c:pt>
                <c:pt idx="282">
                  <c:v>0.5978578383641675</c:v>
                </c:pt>
                <c:pt idx="283">
                  <c:v>0.5978578383641675</c:v>
                </c:pt>
                <c:pt idx="284">
                  <c:v>0.5978578383641675</c:v>
                </c:pt>
                <c:pt idx="285">
                  <c:v>0.5978578383641675</c:v>
                </c:pt>
                <c:pt idx="286">
                  <c:v>0.5978578383641675</c:v>
                </c:pt>
                <c:pt idx="287">
                  <c:v>0.53067185978578379</c:v>
                </c:pt>
                <c:pt idx="288">
                  <c:v>0.53067185978578379</c:v>
                </c:pt>
                <c:pt idx="289">
                  <c:v>0.53067185978578379</c:v>
                </c:pt>
                <c:pt idx="290">
                  <c:v>0.53067185978578379</c:v>
                </c:pt>
                <c:pt idx="291">
                  <c:v>0.53067185978578379</c:v>
                </c:pt>
                <c:pt idx="292">
                  <c:v>0.53067185978578379</c:v>
                </c:pt>
                <c:pt idx="293">
                  <c:v>0.53067185978578379</c:v>
                </c:pt>
                <c:pt idx="294">
                  <c:v>0.41090555014605645</c:v>
                </c:pt>
                <c:pt idx="295">
                  <c:v>0.41090555014605645</c:v>
                </c:pt>
                <c:pt idx="296">
                  <c:v>0.41090555014605645</c:v>
                </c:pt>
                <c:pt idx="297">
                  <c:v>0.41090555014605645</c:v>
                </c:pt>
                <c:pt idx="298">
                  <c:v>0.41090555014605645</c:v>
                </c:pt>
                <c:pt idx="299">
                  <c:v>0.41090555014605645</c:v>
                </c:pt>
                <c:pt idx="300">
                  <c:v>0.41090555014605645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FA95-4F99-89D7-4179CF8CB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90326544"/>
        <c:axId val="1990320784"/>
      </c:lineChart>
      <c:dateAx>
        <c:axId val="19903265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90320784"/>
        <c:crosses val="autoZero"/>
        <c:auto val="1"/>
        <c:lblOffset val="100"/>
        <c:baseTimeUnit val="days"/>
      </c:dateAx>
      <c:valAx>
        <c:axId val="199032078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Sticky factor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90326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DAU WAU</a:t>
            </a:r>
            <a:r>
              <a:rPr lang="en-US" baseline="0" dirty="0"/>
              <a:t> MAU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Лист1!$W$1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Лист1!$V$4:$V$304</c:f>
              <c:numCache>
                <c:formatCode>m/d/yyyy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Лист1!$W$4:$W$304</c:f>
              <c:numCache>
                <c:formatCode>General</c:formatCode>
                <c:ptCount val="301"/>
                <c:pt idx="0">
                  <c:v>5</c:v>
                </c:pt>
                <c:pt idx="1">
                  <c:v>10</c:v>
                </c:pt>
                <c:pt idx="2">
                  <c:v>5</c:v>
                </c:pt>
                <c:pt idx="3">
                  <c:v>13</c:v>
                </c:pt>
                <c:pt idx="4">
                  <c:v>22</c:v>
                </c:pt>
                <c:pt idx="5">
                  <c:v>22</c:v>
                </c:pt>
                <c:pt idx="6">
                  <c:v>26</c:v>
                </c:pt>
                <c:pt idx="7">
                  <c:v>23</c:v>
                </c:pt>
                <c:pt idx="8">
                  <c:v>24</c:v>
                </c:pt>
                <c:pt idx="9">
                  <c:v>30</c:v>
                </c:pt>
                <c:pt idx="10">
                  <c:v>32</c:v>
                </c:pt>
                <c:pt idx="11">
                  <c:v>25</c:v>
                </c:pt>
                <c:pt idx="12">
                  <c:v>34</c:v>
                </c:pt>
                <c:pt idx="13">
                  <c:v>39</c:v>
                </c:pt>
                <c:pt idx="14">
                  <c:v>22</c:v>
                </c:pt>
                <c:pt idx="15">
                  <c:v>38</c:v>
                </c:pt>
                <c:pt idx="16">
                  <c:v>34</c:v>
                </c:pt>
                <c:pt idx="17">
                  <c:v>50</c:v>
                </c:pt>
                <c:pt idx="18">
                  <c:v>43</c:v>
                </c:pt>
                <c:pt idx="19">
                  <c:v>43</c:v>
                </c:pt>
                <c:pt idx="20">
                  <c:v>53</c:v>
                </c:pt>
                <c:pt idx="21">
                  <c:v>63</c:v>
                </c:pt>
                <c:pt idx="22">
                  <c:v>48</c:v>
                </c:pt>
                <c:pt idx="23">
                  <c:v>59</c:v>
                </c:pt>
                <c:pt idx="24">
                  <c:v>59</c:v>
                </c:pt>
                <c:pt idx="25">
                  <c:v>61</c:v>
                </c:pt>
                <c:pt idx="26">
                  <c:v>64</c:v>
                </c:pt>
                <c:pt idx="27">
                  <c:v>64</c:v>
                </c:pt>
                <c:pt idx="28">
                  <c:v>52</c:v>
                </c:pt>
                <c:pt idx="29">
                  <c:v>62</c:v>
                </c:pt>
                <c:pt idx="30">
                  <c:v>55</c:v>
                </c:pt>
                <c:pt idx="31">
                  <c:v>60</c:v>
                </c:pt>
                <c:pt idx="32">
                  <c:v>52</c:v>
                </c:pt>
                <c:pt idx="33">
                  <c:v>62</c:v>
                </c:pt>
                <c:pt idx="34">
                  <c:v>59</c:v>
                </c:pt>
                <c:pt idx="35">
                  <c:v>58</c:v>
                </c:pt>
                <c:pt idx="36">
                  <c:v>53</c:v>
                </c:pt>
                <c:pt idx="37">
                  <c:v>55</c:v>
                </c:pt>
                <c:pt idx="38">
                  <c:v>65</c:v>
                </c:pt>
                <c:pt idx="39">
                  <c:v>54</c:v>
                </c:pt>
                <c:pt idx="40">
                  <c:v>74</c:v>
                </c:pt>
                <c:pt idx="41">
                  <c:v>59</c:v>
                </c:pt>
                <c:pt idx="42">
                  <c:v>54</c:v>
                </c:pt>
                <c:pt idx="43">
                  <c:v>68</c:v>
                </c:pt>
                <c:pt idx="44">
                  <c:v>59</c:v>
                </c:pt>
                <c:pt idx="45">
                  <c:v>61</c:v>
                </c:pt>
                <c:pt idx="46">
                  <c:v>58</c:v>
                </c:pt>
                <c:pt idx="47">
                  <c:v>67</c:v>
                </c:pt>
                <c:pt idx="48">
                  <c:v>62</c:v>
                </c:pt>
                <c:pt idx="49">
                  <c:v>53</c:v>
                </c:pt>
                <c:pt idx="50">
                  <c:v>60</c:v>
                </c:pt>
                <c:pt idx="51">
                  <c:v>67</c:v>
                </c:pt>
                <c:pt idx="52">
                  <c:v>67</c:v>
                </c:pt>
                <c:pt idx="53">
                  <c:v>61</c:v>
                </c:pt>
                <c:pt idx="54">
                  <c:v>63</c:v>
                </c:pt>
                <c:pt idx="55">
                  <c:v>61</c:v>
                </c:pt>
                <c:pt idx="56">
                  <c:v>54</c:v>
                </c:pt>
                <c:pt idx="57">
                  <c:v>72</c:v>
                </c:pt>
                <c:pt idx="58">
                  <c:v>54</c:v>
                </c:pt>
                <c:pt idx="59">
                  <c:v>66</c:v>
                </c:pt>
                <c:pt idx="60">
                  <c:v>61</c:v>
                </c:pt>
                <c:pt idx="61">
                  <c:v>58</c:v>
                </c:pt>
                <c:pt idx="62">
                  <c:v>64</c:v>
                </c:pt>
                <c:pt idx="63">
                  <c:v>62</c:v>
                </c:pt>
                <c:pt idx="64">
                  <c:v>46</c:v>
                </c:pt>
                <c:pt idx="65">
                  <c:v>49</c:v>
                </c:pt>
                <c:pt idx="66">
                  <c:v>59</c:v>
                </c:pt>
                <c:pt idx="67">
                  <c:v>60</c:v>
                </c:pt>
                <c:pt idx="68">
                  <c:v>53</c:v>
                </c:pt>
                <c:pt idx="69">
                  <c:v>61</c:v>
                </c:pt>
                <c:pt idx="70">
                  <c:v>58</c:v>
                </c:pt>
                <c:pt idx="71">
                  <c:v>64</c:v>
                </c:pt>
                <c:pt idx="72">
                  <c:v>65</c:v>
                </c:pt>
                <c:pt idx="73">
                  <c:v>74</c:v>
                </c:pt>
                <c:pt idx="74">
                  <c:v>58</c:v>
                </c:pt>
                <c:pt idx="75">
                  <c:v>62</c:v>
                </c:pt>
                <c:pt idx="76">
                  <c:v>69</c:v>
                </c:pt>
                <c:pt idx="77">
                  <c:v>66</c:v>
                </c:pt>
                <c:pt idx="78">
                  <c:v>67</c:v>
                </c:pt>
                <c:pt idx="79">
                  <c:v>71</c:v>
                </c:pt>
                <c:pt idx="80">
                  <c:v>67</c:v>
                </c:pt>
                <c:pt idx="81">
                  <c:v>55</c:v>
                </c:pt>
                <c:pt idx="82">
                  <c:v>58</c:v>
                </c:pt>
                <c:pt idx="83">
                  <c:v>73</c:v>
                </c:pt>
                <c:pt idx="84">
                  <c:v>58</c:v>
                </c:pt>
                <c:pt idx="85">
                  <c:v>76</c:v>
                </c:pt>
                <c:pt idx="86">
                  <c:v>62</c:v>
                </c:pt>
                <c:pt idx="87">
                  <c:v>66</c:v>
                </c:pt>
                <c:pt idx="88">
                  <c:v>59</c:v>
                </c:pt>
                <c:pt idx="89">
                  <c:v>61</c:v>
                </c:pt>
                <c:pt idx="90">
                  <c:v>52</c:v>
                </c:pt>
                <c:pt idx="91">
                  <c:v>69</c:v>
                </c:pt>
                <c:pt idx="92">
                  <c:v>70</c:v>
                </c:pt>
                <c:pt idx="93">
                  <c:v>45</c:v>
                </c:pt>
                <c:pt idx="94">
                  <c:v>77</c:v>
                </c:pt>
                <c:pt idx="95">
                  <c:v>61</c:v>
                </c:pt>
                <c:pt idx="96">
                  <c:v>56</c:v>
                </c:pt>
                <c:pt idx="97">
                  <c:v>66</c:v>
                </c:pt>
                <c:pt idx="98">
                  <c:v>51</c:v>
                </c:pt>
                <c:pt idx="99">
                  <c:v>59</c:v>
                </c:pt>
                <c:pt idx="100">
                  <c:v>65</c:v>
                </c:pt>
                <c:pt idx="101">
                  <c:v>53</c:v>
                </c:pt>
                <c:pt idx="102">
                  <c:v>72</c:v>
                </c:pt>
                <c:pt idx="103">
                  <c:v>62</c:v>
                </c:pt>
                <c:pt idx="104">
                  <c:v>62</c:v>
                </c:pt>
                <c:pt idx="105">
                  <c:v>70</c:v>
                </c:pt>
                <c:pt idx="106">
                  <c:v>62</c:v>
                </c:pt>
                <c:pt idx="107">
                  <c:v>82</c:v>
                </c:pt>
                <c:pt idx="108">
                  <c:v>52</c:v>
                </c:pt>
                <c:pt idx="109">
                  <c:v>65</c:v>
                </c:pt>
                <c:pt idx="110">
                  <c:v>64</c:v>
                </c:pt>
                <c:pt idx="111">
                  <c:v>57</c:v>
                </c:pt>
                <c:pt idx="112">
                  <c:v>58</c:v>
                </c:pt>
                <c:pt idx="113">
                  <c:v>66</c:v>
                </c:pt>
                <c:pt idx="114">
                  <c:v>60</c:v>
                </c:pt>
                <c:pt idx="115">
                  <c:v>55</c:v>
                </c:pt>
                <c:pt idx="116">
                  <c:v>65</c:v>
                </c:pt>
                <c:pt idx="117">
                  <c:v>54</c:v>
                </c:pt>
                <c:pt idx="118">
                  <c:v>66</c:v>
                </c:pt>
                <c:pt idx="119">
                  <c:v>72</c:v>
                </c:pt>
                <c:pt idx="120">
                  <c:v>58</c:v>
                </c:pt>
                <c:pt idx="121">
                  <c:v>55</c:v>
                </c:pt>
                <c:pt idx="122">
                  <c:v>56</c:v>
                </c:pt>
                <c:pt idx="123">
                  <c:v>63</c:v>
                </c:pt>
                <c:pt idx="124">
                  <c:v>69</c:v>
                </c:pt>
                <c:pt idx="125">
                  <c:v>62</c:v>
                </c:pt>
                <c:pt idx="126">
                  <c:v>60</c:v>
                </c:pt>
                <c:pt idx="127">
                  <c:v>60</c:v>
                </c:pt>
                <c:pt idx="128">
                  <c:v>60</c:v>
                </c:pt>
                <c:pt idx="129">
                  <c:v>55</c:v>
                </c:pt>
                <c:pt idx="130">
                  <c:v>62</c:v>
                </c:pt>
                <c:pt idx="131">
                  <c:v>53</c:v>
                </c:pt>
                <c:pt idx="132">
                  <c:v>54</c:v>
                </c:pt>
                <c:pt idx="133">
                  <c:v>46</c:v>
                </c:pt>
                <c:pt idx="134">
                  <c:v>55</c:v>
                </c:pt>
                <c:pt idx="135">
                  <c:v>51</c:v>
                </c:pt>
                <c:pt idx="136">
                  <c:v>58</c:v>
                </c:pt>
                <c:pt idx="137">
                  <c:v>51</c:v>
                </c:pt>
                <c:pt idx="138">
                  <c:v>40</c:v>
                </c:pt>
                <c:pt idx="139">
                  <c:v>50</c:v>
                </c:pt>
                <c:pt idx="140">
                  <c:v>34</c:v>
                </c:pt>
                <c:pt idx="141">
                  <c:v>41</c:v>
                </c:pt>
                <c:pt idx="142">
                  <c:v>39</c:v>
                </c:pt>
                <c:pt idx="143">
                  <c:v>32</c:v>
                </c:pt>
                <c:pt idx="144">
                  <c:v>32</c:v>
                </c:pt>
                <c:pt idx="145">
                  <c:v>31</c:v>
                </c:pt>
                <c:pt idx="146">
                  <c:v>35</c:v>
                </c:pt>
                <c:pt idx="147">
                  <c:v>32</c:v>
                </c:pt>
                <c:pt idx="148">
                  <c:v>23</c:v>
                </c:pt>
                <c:pt idx="149">
                  <c:v>35</c:v>
                </c:pt>
                <c:pt idx="150">
                  <c:v>32</c:v>
                </c:pt>
                <c:pt idx="151">
                  <c:v>25</c:v>
                </c:pt>
                <c:pt idx="152">
                  <c:v>19</c:v>
                </c:pt>
                <c:pt idx="153">
                  <c:v>30</c:v>
                </c:pt>
                <c:pt idx="154">
                  <c:v>23</c:v>
                </c:pt>
                <c:pt idx="155">
                  <c:v>32</c:v>
                </c:pt>
                <c:pt idx="156">
                  <c:v>35</c:v>
                </c:pt>
                <c:pt idx="157">
                  <c:v>29</c:v>
                </c:pt>
                <c:pt idx="158">
                  <c:v>36</c:v>
                </c:pt>
                <c:pt idx="159">
                  <c:v>30</c:v>
                </c:pt>
                <c:pt idx="160">
                  <c:v>25</c:v>
                </c:pt>
                <c:pt idx="161">
                  <c:v>31</c:v>
                </c:pt>
                <c:pt idx="162">
                  <c:v>34</c:v>
                </c:pt>
                <c:pt idx="163">
                  <c:v>22</c:v>
                </c:pt>
                <c:pt idx="164">
                  <c:v>26</c:v>
                </c:pt>
                <c:pt idx="165">
                  <c:v>27</c:v>
                </c:pt>
                <c:pt idx="166">
                  <c:v>28</c:v>
                </c:pt>
                <c:pt idx="167">
                  <c:v>20</c:v>
                </c:pt>
                <c:pt idx="168">
                  <c:v>32</c:v>
                </c:pt>
                <c:pt idx="169">
                  <c:v>28</c:v>
                </c:pt>
                <c:pt idx="170">
                  <c:v>28</c:v>
                </c:pt>
                <c:pt idx="171">
                  <c:v>29</c:v>
                </c:pt>
                <c:pt idx="172">
                  <c:v>36</c:v>
                </c:pt>
                <c:pt idx="173">
                  <c:v>24</c:v>
                </c:pt>
                <c:pt idx="174">
                  <c:v>33</c:v>
                </c:pt>
                <c:pt idx="175">
                  <c:v>26</c:v>
                </c:pt>
                <c:pt idx="176">
                  <c:v>24</c:v>
                </c:pt>
                <c:pt idx="177">
                  <c:v>32</c:v>
                </c:pt>
                <c:pt idx="178">
                  <c:v>29</c:v>
                </c:pt>
                <c:pt idx="179">
                  <c:v>22</c:v>
                </c:pt>
                <c:pt idx="180">
                  <c:v>37</c:v>
                </c:pt>
                <c:pt idx="181">
                  <c:v>24</c:v>
                </c:pt>
                <c:pt idx="182">
                  <c:v>35</c:v>
                </c:pt>
                <c:pt idx="183">
                  <c:v>40</c:v>
                </c:pt>
                <c:pt idx="184">
                  <c:v>46</c:v>
                </c:pt>
                <c:pt idx="185">
                  <c:v>36</c:v>
                </c:pt>
                <c:pt idx="186">
                  <c:v>46</c:v>
                </c:pt>
                <c:pt idx="187">
                  <c:v>35</c:v>
                </c:pt>
                <c:pt idx="188">
                  <c:v>53</c:v>
                </c:pt>
                <c:pt idx="189">
                  <c:v>53</c:v>
                </c:pt>
                <c:pt idx="190">
                  <c:v>52</c:v>
                </c:pt>
                <c:pt idx="191">
                  <c:v>65</c:v>
                </c:pt>
                <c:pt idx="192">
                  <c:v>52</c:v>
                </c:pt>
                <c:pt idx="193">
                  <c:v>62</c:v>
                </c:pt>
                <c:pt idx="194">
                  <c:v>77</c:v>
                </c:pt>
                <c:pt idx="195">
                  <c:v>61</c:v>
                </c:pt>
                <c:pt idx="196">
                  <c:v>70</c:v>
                </c:pt>
                <c:pt idx="197">
                  <c:v>66</c:v>
                </c:pt>
                <c:pt idx="198">
                  <c:v>73</c:v>
                </c:pt>
                <c:pt idx="199">
                  <c:v>73</c:v>
                </c:pt>
                <c:pt idx="200">
                  <c:v>80</c:v>
                </c:pt>
                <c:pt idx="201">
                  <c:v>75</c:v>
                </c:pt>
                <c:pt idx="202">
                  <c:v>90</c:v>
                </c:pt>
                <c:pt idx="203">
                  <c:v>78</c:v>
                </c:pt>
                <c:pt idx="204">
                  <c:v>90</c:v>
                </c:pt>
                <c:pt idx="205">
                  <c:v>88</c:v>
                </c:pt>
                <c:pt idx="206">
                  <c:v>83</c:v>
                </c:pt>
                <c:pt idx="207">
                  <c:v>92</c:v>
                </c:pt>
                <c:pt idx="208">
                  <c:v>99</c:v>
                </c:pt>
                <c:pt idx="209">
                  <c:v>93</c:v>
                </c:pt>
                <c:pt idx="210">
                  <c:v>115</c:v>
                </c:pt>
                <c:pt idx="211">
                  <c:v>108</c:v>
                </c:pt>
                <c:pt idx="212">
                  <c:v>112</c:v>
                </c:pt>
                <c:pt idx="213">
                  <c:v>86</c:v>
                </c:pt>
                <c:pt idx="214">
                  <c:v>98</c:v>
                </c:pt>
                <c:pt idx="215">
                  <c:v>100</c:v>
                </c:pt>
                <c:pt idx="216">
                  <c:v>95</c:v>
                </c:pt>
                <c:pt idx="217">
                  <c:v>98</c:v>
                </c:pt>
                <c:pt idx="218">
                  <c:v>90</c:v>
                </c:pt>
                <c:pt idx="219">
                  <c:v>107</c:v>
                </c:pt>
                <c:pt idx="220">
                  <c:v>101</c:v>
                </c:pt>
                <c:pt idx="221">
                  <c:v>104</c:v>
                </c:pt>
                <c:pt idx="222">
                  <c:v>98</c:v>
                </c:pt>
                <c:pt idx="223">
                  <c:v>101</c:v>
                </c:pt>
                <c:pt idx="224">
                  <c:v>94</c:v>
                </c:pt>
                <c:pt idx="225">
                  <c:v>108</c:v>
                </c:pt>
                <c:pt idx="226">
                  <c:v>103</c:v>
                </c:pt>
                <c:pt idx="227">
                  <c:v>95</c:v>
                </c:pt>
                <c:pt idx="228">
                  <c:v>107</c:v>
                </c:pt>
                <c:pt idx="229">
                  <c:v>116</c:v>
                </c:pt>
                <c:pt idx="230">
                  <c:v>109</c:v>
                </c:pt>
                <c:pt idx="231">
                  <c:v>84</c:v>
                </c:pt>
                <c:pt idx="232">
                  <c:v>98</c:v>
                </c:pt>
                <c:pt idx="233">
                  <c:v>115</c:v>
                </c:pt>
                <c:pt idx="234">
                  <c:v>95</c:v>
                </c:pt>
                <c:pt idx="235">
                  <c:v>106</c:v>
                </c:pt>
                <c:pt idx="236">
                  <c:v>118</c:v>
                </c:pt>
                <c:pt idx="237">
                  <c:v>127</c:v>
                </c:pt>
                <c:pt idx="238">
                  <c:v>104</c:v>
                </c:pt>
                <c:pt idx="239">
                  <c:v>131</c:v>
                </c:pt>
                <c:pt idx="240">
                  <c:v>130</c:v>
                </c:pt>
                <c:pt idx="241">
                  <c:v>138</c:v>
                </c:pt>
                <c:pt idx="242">
                  <c:v>167</c:v>
                </c:pt>
                <c:pt idx="243">
                  <c:v>170</c:v>
                </c:pt>
                <c:pt idx="244">
                  <c:v>165</c:v>
                </c:pt>
                <c:pt idx="245">
                  <c:v>149</c:v>
                </c:pt>
                <c:pt idx="246">
                  <c:v>151</c:v>
                </c:pt>
                <c:pt idx="247">
                  <c:v>173</c:v>
                </c:pt>
                <c:pt idx="248">
                  <c:v>150</c:v>
                </c:pt>
                <c:pt idx="249">
                  <c:v>162</c:v>
                </c:pt>
                <c:pt idx="250">
                  <c:v>175</c:v>
                </c:pt>
                <c:pt idx="251">
                  <c:v>176</c:v>
                </c:pt>
                <c:pt idx="252">
                  <c:v>180</c:v>
                </c:pt>
                <c:pt idx="253">
                  <c:v>168</c:v>
                </c:pt>
                <c:pt idx="254">
                  <c:v>185</c:v>
                </c:pt>
                <c:pt idx="255">
                  <c:v>181</c:v>
                </c:pt>
                <c:pt idx="256">
                  <c:v>172</c:v>
                </c:pt>
                <c:pt idx="257">
                  <c:v>187</c:v>
                </c:pt>
                <c:pt idx="258">
                  <c:v>218</c:v>
                </c:pt>
                <c:pt idx="259">
                  <c:v>184</c:v>
                </c:pt>
                <c:pt idx="260">
                  <c:v>194</c:v>
                </c:pt>
                <c:pt idx="261">
                  <c:v>131</c:v>
                </c:pt>
                <c:pt idx="262">
                  <c:v>176</c:v>
                </c:pt>
                <c:pt idx="263">
                  <c:v>136</c:v>
                </c:pt>
                <c:pt idx="264">
                  <c:v>153</c:v>
                </c:pt>
                <c:pt idx="265">
                  <c:v>159</c:v>
                </c:pt>
                <c:pt idx="266">
                  <c:v>143</c:v>
                </c:pt>
                <c:pt idx="267">
                  <c:v>156</c:v>
                </c:pt>
                <c:pt idx="268">
                  <c:v>151</c:v>
                </c:pt>
                <c:pt idx="269">
                  <c:v>148</c:v>
                </c:pt>
                <c:pt idx="270">
                  <c:v>184</c:v>
                </c:pt>
                <c:pt idx="271">
                  <c:v>204</c:v>
                </c:pt>
                <c:pt idx="272">
                  <c:v>215</c:v>
                </c:pt>
                <c:pt idx="273">
                  <c:v>198</c:v>
                </c:pt>
                <c:pt idx="274">
                  <c:v>199</c:v>
                </c:pt>
                <c:pt idx="275">
                  <c:v>188</c:v>
                </c:pt>
                <c:pt idx="276">
                  <c:v>197</c:v>
                </c:pt>
                <c:pt idx="277">
                  <c:v>192</c:v>
                </c:pt>
                <c:pt idx="278">
                  <c:v>200</c:v>
                </c:pt>
                <c:pt idx="279">
                  <c:v>192</c:v>
                </c:pt>
                <c:pt idx="280">
                  <c:v>172</c:v>
                </c:pt>
                <c:pt idx="281">
                  <c:v>160</c:v>
                </c:pt>
                <c:pt idx="282">
                  <c:v>168</c:v>
                </c:pt>
                <c:pt idx="283">
                  <c:v>171</c:v>
                </c:pt>
                <c:pt idx="284">
                  <c:v>154</c:v>
                </c:pt>
                <c:pt idx="285">
                  <c:v>146</c:v>
                </c:pt>
                <c:pt idx="286">
                  <c:v>166</c:v>
                </c:pt>
                <c:pt idx="287">
                  <c:v>134</c:v>
                </c:pt>
                <c:pt idx="288">
                  <c:v>149</c:v>
                </c:pt>
                <c:pt idx="289">
                  <c:v>132</c:v>
                </c:pt>
                <c:pt idx="290">
                  <c:v>131</c:v>
                </c:pt>
                <c:pt idx="291">
                  <c:v>104</c:v>
                </c:pt>
                <c:pt idx="292">
                  <c:v>105</c:v>
                </c:pt>
                <c:pt idx="293">
                  <c:v>105</c:v>
                </c:pt>
                <c:pt idx="294">
                  <c:v>90</c:v>
                </c:pt>
                <c:pt idx="295">
                  <c:v>101</c:v>
                </c:pt>
                <c:pt idx="296">
                  <c:v>92</c:v>
                </c:pt>
                <c:pt idx="297">
                  <c:v>68</c:v>
                </c:pt>
                <c:pt idx="298">
                  <c:v>75</c:v>
                </c:pt>
                <c:pt idx="299">
                  <c:v>73</c:v>
                </c:pt>
                <c:pt idx="300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9F-4F0B-A6BB-7E324BF43A19}"/>
            </c:ext>
          </c:extLst>
        </c:ser>
        <c:ser>
          <c:idx val="1"/>
          <c:order val="1"/>
          <c:tx>
            <c:strRef>
              <c:f>Лист1!$X$1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Лист1!$V$4:$V$304</c:f>
              <c:numCache>
                <c:formatCode>m/d/yyyy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Лист1!$X$4:$X$304</c:f>
              <c:numCache>
                <c:formatCode>General</c:formatCode>
                <c:ptCount val="301"/>
                <c:pt idx="0">
                  <c:v>59</c:v>
                </c:pt>
                <c:pt idx="1">
                  <c:v>59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92</c:v>
                </c:pt>
                <c:pt idx="8">
                  <c:v>92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133</c:v>
                </c:pt>
                <c:pt idx="15">
                  <c:v>133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183</c:v>
                </c:pt>
                <c:pt idx="22">
                  <c:v>183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202</c:v>
                </c:pt>
                <c:pt idx="29">
                  <c:v>202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193</c:v>
                </c:pt>
                <c:pt idx="36">
                  <c:v>193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201</c:v>
                </c:pt>
                <c:pt idx="43">
                  <c:v>201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206</c:v>
                </c:pt>
                <c:pt idx="50">
                  <c:v>206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192</c:v>
                </c:pt>
                <c:pt idx="57">
                  <c:v>192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196</c:v>
                </c:pt>
                <c:pt idx="64">
                  <c:v>196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205</c:v>
                </c:pt>
                <c:pt idx="71">
                  <c:v>205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213</c:v>
                </c:pt>
                <c:pt idx="78">
                  <c:v>213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208</c:v>
                </c:pt>
                <c:pt idx="85">
                  <c:v>208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207</c:v>
                </c:pt>
                <c:pt idx="92">
                  <c:v>207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204</c:v>
                </c:pt>
                <c:pt idx="99">
                  <c:v>204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201</c:v>
                </c:pt>
                <c:pt idx="106">
                  <c:v>201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213</c:v>
                </c:pt>
                <c:pt idx="113">
                  <c:v>213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214</c:v>
                </c:pt>
                <c:pt idx="120">
                  <c:v>214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203</c:v>
                </c:pt>
                <c:pt idx="127">
                  <c:v>203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202</c:v>
                </c:pt>
                <c:pt idx="134">
                  <c:v>202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167</c:v>
                </c:pt>
                <c:pt idx="141">
                  <c:v>167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157</c:v>
                </c:pt>
                <c:pt idx="148">
                  <c:v>157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156</c:v>
                </c:pt>
                <c:pt idx="155">
                  <c:v>156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153</c:v>
                </c:pt>
                <c:pt idx="162">
                  <c:v>153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145</c:v>
                </c:pt>
                <c:pt idx="169">
                  <c:v>145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141</c:v>
                </c:pt>
                <c:pt idx="176">
                  <c:v>141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190</c:v>
                </c:pt>
                <c:pt idx="183">
                  <c:v>190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233</c:v>
                </c:pt>
                <c:pt idx="190">
                  <c:v>233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272</c:v>
                </c:pt>
                <c:pt idx="197">
                  <c:v>272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295</c:v>
                </c:pt>
                <c:pt idx="204">
                  <c:v>295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346</c:v>
                </c:pt>
                <c:pt idx="211">
                  <c:v>346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340</c:v>
                </c:pt>
                <c:pt idx="218">
                  <c:v>340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347</c:v>
                </c:pt>
                <c:pt idx="225">
                  <c:v>347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384</c:v>
                </c:pt>
                <c:pt idx="232">
                  <c:v>384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611</c:v>
                </c:pt>
                <c:pt idx="239">
                  <c:v>611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712</c:v>
                </c:pt>
                <c:pt idx="246">
                  <c:v>712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772</c:v>
                </c:pt>
                <c:pt idx="253">
                  <c:v>772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656</c:v>
                </c:pt>
                <c:pt idx="260">
                  <c:v>656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661</c:v>
                </c:pt>
                <c:pt idx="267">
                  <c:v>661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699</c:v>
                </c:pt>
                <c:pt idx="274">
                  <c:v>699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614</c:v>
                </c:pt>
                <c:pt idx="281">
                  <c:v>614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545</c:v>
                </c:pt>
                <c:pt idx="288">
                  <c:v>545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422</c:v>
                </c:pt>
                <c:pt idx="295">
                  <c:v>422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9F-4F0B-A6BB-7E324BF43A19}"/>
            </c:ext>
          </c:extLst>
        </c:ser>
        <c:ser>
          <c:idx val="2"/>
          <c:order val="2"/>
          <c:tx>
            <c:strRef>
              <c:f>Лист1!$Y$1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Лист1!$V$4:$V$304</c:f>
              <c:numCache>
                <c:formatCode>m/d/yyyy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Лист1!$Y$4:$Y$304</c:f>
              <c:numCache>
                <c:formatCode>#,##0</c:formatCode>
                <c:ptCount val="301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366</c:v>
                </c:pt>
                <c:pt idx="29">
                  <c:v>366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378</c:v>
                </c:pt>
                <c:pt idx="60">
                  <c:v>378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393</c:v>
                </c:pt>
                <c:pt idx="90">
                  <c:v>393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426</c:v>
                </c:pt>
                <c:pt idx="121">
                  <c:v>426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390</c:v>
                </c:pt>
                <c:pt idx="151">
                  <c:v>390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536</c:v>
                </c:pt>
                <c:pt idx="182">
                  <c:v>536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696</c:v>
                </c:pt>
                <c:pt idx="213">
                  <c:v>696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1544</c:v>
                </c:pt>
                <c:pt idx="241">
                  <c:v>1544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1027</c:v>
                </c:pt>
                <c:pt idx="272">
                  <c:v>1027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39F-4F0B-A6BB-7E324BF43A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6606176"/>
        <c:axId val="426606656"/>
      </c:lineChart>
      <c:dateAx>
        <c:axId val="42660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Дни</a:t>
                </a:r>
              </a:p>
            </c:rich>
          </c:tx>
          <c:layout>
            <c:manualLayout>
              <c:xMode val="edge"/>
              <c:yMode val="edge"/>
              <c:x val="0.48556319484454685"/>
              <c:y val="0.843760055805643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6606656"/>
        <c:crosses val="autoZero"/>
        <c:auto val="1"/>
        <c:lblOffset val="100"/>
        <c:baseTimeUnit val="days"/>
      </c:dateAx>
      <c:valAx>
        <c:axId val="426606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пользователей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6606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9607494185178049E-2"/>
          <c:y val="0.11057968614343862"/>
          <c:w val="0.1595383991635192"/>
          <c:h val="4.30213336143689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Лист4!$B$31</c:f>
              <c:strCache>
                <c:ptCount val="1"/>
                <c:pt idx="0">
                  <c:v>Месячная выручка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Лист4!$A$32:$A$41</c:f>
              <c:numCache>
                <c:formatCode>mmm\-yy</c:formatCode>
                <c:ptCount val="10"/>
                <c:pt idx="0">
                  <c:v>44805</c:v>
                </c:pt>
                <c:pt idx="1">
                  <c:v>44743</c:v>
                </c:pt>
                <c:pt idx="2">
                  <c:v>44835</c:v>
                </c:pt>
                <c:pt idx="3">
                  <c:v>44866</c:v>
                </c:pt>
                <c:pt idx="4">
                  <c:v>44986</c:v>
                </c:pt>
                <c:pt idx="5">
                  <c:v>44927</c:v>
                </c:pt>
                <c:pt idx="6">
                  <c:v>45017</c:v>
                </c:pt>
                <c:pt idx="7">
                  <c:v>44774</c:v>
                </c:pt>
                <c:pt idx="8">
                  <c:v>44958</c:v>
                </c:pt>
                <c:pt idx="9">
                  <c:v>44896</c:v>
                </c:pt>
              </c:numCache>
            </c:numRef>
          </c:cat>
          <c:val>
            <c:numRef>
              <c:f>Лист4!$B$32:$B$41</c:f>
              <c:numCache>
                <c:formatCode>#\ ##0\ "₽"</c:formatCode>
                <c:ptCount val="10"/>
                <c:pt idx="0">
                  <c:v>73210</c:v>
                </c:pt>
                <c:pt idx="1">
                  <c:v>49413</c:v>
                </c:pt>
                <c:pt idx="2">
                  <c:v>76513</c:v>
                </c:pt>
                <c:pt idx="3">
                  <c:v>79819</c:v>
                </c:pt>
                <c:pt idx="4">
                  <c:v>219188</c:v>
                </c:pt>
                <c:pt idx="5">
                  <c:v>126738</c:v>
                </c:pt>
                <c:pt idx="6">
                  <c:v>95000</c:v>
                </c:pt>
                <c:pt idx="7">
                  <c:v>78771</c:v>
                </c:pt>
                <c:pt idx="8">
                  <c:v>124512</c:v>
                </c:pt>
                <c:pt idx="9">
                  <c:v>63080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BE-4B4A-8EE3-BEDB34084B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5963680"/>
        <c:axId val="745957440"/>
      </c:lineChart>
      <c:dateAx>
        <c:axId val="7459636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5957440"/>
        <c:crosses val="autoZero"/>
        <c:auto val="1"/>
        <c:lblOffset val="100"/>
        <c:baseTimeUnit val="months"/>
      </c:dateAx>
      <c:valAx>
        <c:axId val="745957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Выручка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5963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[Графики.xlsx]Лист3!Сводная таблица5</c:name>
    <c:fmtId val="7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Лист3!$R$3:$R$4</c:f>
              <c:strCache>
                <c:ptCount val="1"/>
                <c:pt idx="0">
                  <c:v>Ammo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Лист3!$Q$5:$Q$15</c:f>
              <c:strCache>
                <c:ptCount val="10"/>
                <c:pt idx="0">
                  <c:v>июл.22</c:v>
                </c:pt>
                <c:pt idx="1">
                  <c:v>авг.22</c:v>
                </c:pt>
                <c:pt idx="2">
                  <c:v>сен.22</c:v>
                </c:pt>
                <c:pt idx="3">
                  <c:v>окт.22</c:v>
                </c:pt>
                <c:pt idx="4">
                  <c:v>ноя.22</c:v>
                </c:pt>
                <c:pt idx="5">
                  <c:v>дек.22</c:v>
                </c:pt>
                <c:pt idx="6">
                  <c:v>янв.23</c:v>
                </c:pt>
                <c:pt idx="7">
                  <c:v>фев.23</c:v>
                </c:pt>
                <c:pt idx="8">
                  <c:v>мар.23</c:v>
                </c:pt>
                <c:pt idx="9">
                  <c:v>апр.23</c:v>
                </c:pt>
              </c:strCache>
            </c:strRef>
          </c:cat>
          <c:val>
            <c:numRef>
              <c:f>Лист3!$R$5:$R$15</c:f>
              <c:numCache>
                <c:formatCode>#,##0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DC-48A3-8A06-D97CF43CFB3A}"/>
            </c:ext>
          </c:extLst>
        </c:ser>
        <c:ser>
          <c:idx val="1"/>
          <c:order val="1"/>
          <c:tx>
            <c:strRef>
              <c:f>Лист3!$S$3:$S$4</c:f>
              <c:strCache>
                <c:ptCount val="1"/>
                <c:pt idx="0">
                  <c:v>Currency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Лист3!$Q$5:$Q$15</c:f>
              <c:strCache>
                <c:ptCount val="10"/>
                <c:pt idx="0">
                  <c:v>июл.22</c:v>
                </c:pt>
                <c:pt idx="1">
                  <c:v>авг.22</c:v>
                </c:pt>
                <c:pt idx="2">
                  <c:v>сен.22</c:v>
                </c:pt>
                <c:pt idx="3">
                  <c:v>окт.22</c:v>
                </c:pt>
                <c:pt idx="4">
                  <c:v>ноя.22</c:v>
                </c:pt>
                <c:pt idx="5">
                  <c:v>дек.22</c:v>
                </c:pt>
                <c:pt idx="6">
                  <c:v>янв.23</c:v>
                </c:pt>
                <c:pt idx="7">
                  <c:v>фев.23</c:v>
                </c:pt>
                <c:pt idx="8">
                  <c:v>мар.23</c:v>
                </c:pt>
                <c:pt idx="9">
                  <c:v>апр.23</c:v>
                </c:pt>
              </c:strCache>
            </c:strRef>
          </c:cat>
          <c:val>
            <c:numRef>
              <c:f>Лист3!$S$5:$S$15</c:f>
              <c:numCache>
                <c:formatCode>#,##0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DC-48A3-8A06-D97CF43CFB3A}"/>
            </c:ext>
          </c:extLst>
        </c:ser>
        <c:ser>
          <c:idx val="2"/>
          <c:order val="2"/>
          <c:tx>
            <c:strRef>
              <c:f>Лист3!$T$3:$T$4</c:f>
              <c:strCache>
                <c:ptCount val="1"/>
                <c:pt idx="0">
                  <c:v>Materials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Лист3!$Q$5:$Q$15</c:f>
              <c:strCache>
                <c:ptCount val="10"/>
                <c:pt idx="0">
                  <c:v>июл.22</c:v>
                </c:pt>
                <c:pt idx="1">
                  <c:v>авг.22</c:v>
                </c:pt>
                <c:pt idx="2">
                  <c:v>сен.22</c:v>
                </c:pt>
                <c:pt idx="3">
                  <c:v>окт.22</c:v>
                </c:pt>
                <c:pt idx="4">
                  <c:v>ноя.22</c:v>
                </c:pt>
                <c:pt idx="5">
                  <c:v>дек.22</c:v>
                </c:pt>
                <c:pt idx="6">
                  <c:v>янв.23</c:v>
                </c:pt>
                <c:pt idx="7">
                  <c:v>фев.23</c:v>
                </c:pt>
                <c:pt idx="8">
                  <c:v>мар.23</c:v>
                </c:pt>
                <c:pt idx="9">
                  <c:v>апр.23</c:v>
                </c:pt>
              </c:strCache>
            </c:strRef>
          </c:cat>
          <c:val>
            <c:numRef>
              <c:f>Лист3!$T$5:$T$15</c:f>
              <c:numCache>
                <c:formatCode>#,##0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8DC-48A3-8A06-D97CF43CFB3A}"/>
            </c:ext>
          </c:extLst>
        </c:ser>
        <c:ser>
          <c:idx val="3"/>
          <c:order val="3"/>
          <c:tx>
            <c:strRef>
              <c:f>Лист3!$U$3:$U$4</c:f>
              <c:strCache>
                <c:ptCount val="1"/>
                <c:pt idx="0">
                  <c:v>Transport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Лист3!$Q$5:$Q$15</c:f>
              <c:strCache>
                <c:ptCount val="10"/>
                <c:pt idx="0">
                  <c:v>июл.22</c:v>
                </c:pt>
                <c:pt idx="1">
                  <c:v>авг.22</c:v>
                </c:pt>
                <c:pt idx="2">
                  <c:v>сен.22</c:v>
                </c:pt>
                <c:pt idx="3">
                  <c:v>окт.22</c:v>
                </c:pt>
                <c:pt idx="4">
                  <c:v>ноя.22</c:v>
                </c:pt>
                <c:pt idx="5">
                  <c:v>дек.22</c:v>
                </c:pt>
                <c:pt idx="6">
                  <c:v>янв.23</c:v>
                </c:pt>
                <c:pt idx="7">
                  <c:v>фев.23</c:v>
                </c:pt>
                <c:pt idx="8">
                  <c:v>мар.23</c:v>
                </c:pt>
                <c:pt idx="9">
                  <c:v>апр.23</c:v>
                </c:pt>
              </c:strCache>
            </c:strRef>
          </c:cat>
          <c:val>
            <c:numRef>
              <c:f>Лист3!$U$5:$U$15</c:f>
              <c:numCache>
                <c:formatCode>#,##0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8DC-48A3-8A06-D97CF43CFB3A}"/>
            </c:ext>
          </c:extLst>
        </c:ser>
        <c:ser>
          <c:idx val="4"/>
          <c:order val="4"/>
          <c:tx>
            <c:strRef>
              <c:f>Лист3!$V$3:$V$4</c:f>
              <c:strCache>
                <c:ptCount val="1"/>
                <c:pt idx="0">
                  <c:v>Weapon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Лист3!$Q$5:$Q$15</c:f>
              <c:strCache>
                <c:ptCount val="10"/>
                <c:pt idx="0">
                  <c:v>июл.22</c:v>
                </c:pt>
                <c:pt idx="1">
                  <c:v>авг.22</c:v>
                </c:pt>
                <c:pt idx="2">
                  <c:v>сен.22</c:v>
                </c:pt>
                <c:pt idx="3">
                  <c:v>окт.22</c:v>
                </c:pt>
                <c:pt idx="4">
                  <c:v>ноя.22</c:v>
                </c:pt>
                <c:pt idx="5">
                  <c:v>дек.22</c:v>
                </c:pt>
                <c:pt idx="6">
                  <c:v>янв.23</c:v>
                </c:pt>
                <c:pt idx="7">
                  <c:v>фев.23</c:v>
                </c:pt>
                <c:pt idx="8">
                  <c:v>мар.23</c:v>
                </c:pt>
                <c:pt idx="9">
                  <c:v>апр.23</c:v>
                </c:pt>
              </c:strCache>
            </c:strRef>
          </c:cat>
          <c:val>
            <c:numRef>
              <c:f>Лист3!$V$5:$V$15</c:f>
              <c:numCache>
                <c:formatCode>#,##0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8DC-48A3-8A06-D97CF43CF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0235567"/>
        <c:axId val="460228367"/>
      </c:lineChart>
      <c:catAx>
        <c:axId val="4602355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0228367"/>
        <c:crosses val="autoZero"/>
        <c:auto val="1"/>
        <c:lblAlgn val="ctr"/>
        <c:lblOffset val="100"/>
        <c:noMultiLvlLbl val="0"/>
      </c:catAx>
      <c:valAx>
        <c:axId val="460228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Выручка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0235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Лист3!$AD$3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Лист3!$AB$4:$AB$13</c:f>
              <c:numCache>
                <c:formatCode>mmm\-yy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Лист3!$AD$4:$AD$13</c:f>
              <c:numCache>
                <c:formatCode>#,##0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67-4B74-AF31-1076F43B16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0310927"/>
        <c:axId val="460311407"/>
      </c:lineChart>
      <c:lineChart>
        <c:grouping val="standard"/>
        <c:varyColors val="0"/>
        <c:ser>
          <c:idx val="0"/>
          <c:order val="0"/>
          <c:tx>
            <c:strRef>
              <c:f>Лист3!$AC$3</c:f>
              <c:strCache>
                <c:ptCount val="1"/>
                <c:pt idx="0">
                  <c:v>среднее_количество_покупок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Лист3!$AB$4:$AB$13</c:f>
              <c:numCache>
                <c:formatCode>mmm\-yy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Лист3!$AC$4:$AC$13</c:f>
              <c:numCache>
                <c:formatCode>General</c:formatCode>
                <c:ptCount val="10"/>
                <c:pt idx="0">
                  <c:v>29</c:v>
                </c:pt>
                <c:pt idx="1">
                  <c:v>31.56</c:v>
                </c:pt>
                <c:pt idx="2">
                  <c:v>32.17</c:v>
                </c:pt>
                <c:pt idx="3">
                  <c:v>28</c:v>
                </c:pt>
                <c:pt idx="4">
                  <c:v>29.6</c:v>
                </c:pt>
                <c:pt idx="5">
                  <c:v>30</c:v>
                </c:pt>
                <c:pt idx="6">
                  <c:v>19.12</c:v>
                </c:pt>
                <c:pt idx="7">
                  <c:v>17.350000000000001</c:v>
                </c:pt>
                <c:pt idx="8">
                  <c:v>22.05</c:v>
                </c:pt>
                <c:pt idx="9">
                  <c:v>23.08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67-4B74-AF31-1076F43B16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0310447"/>
        <c:axId val="460300847"/>
      </c:lineChart>
      <c:dateAx>
        <c:axId val="4603109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0311407"/>
        <c:crosses val="autoZero"/>
        <c:auto val="1"/>
        <c:lblOffset val="100"/>
        <c:baseTimeUnit val="months"/>
      </c:dateAx>
      <c:valAx>
        <c:axId val="460311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Выручка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0310927"/>
        <c:crosses val="autoZero"/>
        <c:crossBetween val="between"/>
      </c:valAx>
      <c:valAx>
        <c:axId val="46030084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Среднее количество покупок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0310447"/>
        <c:crosses val="max"/>
        <c:crossBetween val="between"/>
      </c:valAx>
      <c:dateAx>
        <c:axId val="460310447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460300847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Лист4!$B$1</c:f>
              <c:strCache>
                <c:ptCount val="1"/>
                <c:pt idx="0">
                  <c:v>Выручка с когорты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Лист4!$A$2:$A$10</c:f>
              <c:numCache>
                <c:formatCode>mmm\-yy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Лист4!$B$2:$B$10</c:f>
              <c:numCache>
                <c:formatCode>#,##0</c:formatCode>
                <c:ptCount val="9"/>
                <c:pt idx="0">
                  <c:v>84168</c:v>
                </c:pt>
                <c:pt idx="1">
                  <c:v>65006</c:v>
                </c:pt>
                <c:pt idx="2">
                  <c:v>86312</c:v>
                </c:pt>
                <c:pt idx="3">
                  <c:v>80844</c:v>
                </c:pt>
                <c:pt idx="4">
                  <c:v>80719</c:v>
                </c:pt>
                <c:pt idx="5">
                  <c:v>82357</c:v>
                </c:pt>
                <c:pt idx="6">
                  <c:v>129700</c:v>
                </c:pt>
                <c:pt idx="7">
                  <c:v>143247</c:v>
                </c:pt>
                <c:pt idx="8">
                  <c:v>224011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6E-4D8F-AB94-78D661CC09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2014656"/>
        <c:axId val="482031456"/>
      </c:barChart>
      <c:dateAx>
        <c:axId val="4820146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Когорта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2031456"/>
        <c:crosses val="autoZero"/>
        <c:auto val="1"/>
        <c:lblOffset val="100"/>
        <c:baseTimeUnit val="months"/>
      </c:dateAx>
      <c:valAx>
        <c:axId val="48203145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Выручка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201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Лист4!$C$1</c:f>
              <c:strCache>
                <c:ptCount val="1"/>
                <c:pt idx="0">
                  <c:v>Количество пользователей в когорте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Лист4!$A$2:$A$10</c:f>
              <c:numCache>
                <c:formatCode>mmm\-yy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Лист4!$C$2:$C$10</c:f>
              <c:numCache>
                <c:formatCode>General</c:formatCode>
                <c:ptCount val="9"/>
                <c:pt idx="0">
                  <c:v>71</c:v>
                </c:pt>
                <c:pt idx="1">
                  <c:v>76</c:v>
                </c:pt>
                <c:pt idx="2">
                  <c:v>82</c:v>
                </c:pt>
                <c:pt idx="3">
                  <c:v>87</c:v>
                </c:pt>
                <c:pt idx="4">
                  <c:v>77</c:v>
                </c:pt>
                <c:pt idx="5">
                  <c:v>83</c:v>
                </c:pt>
                <c:pt idx="6">
                  <c:v>127</c:v>
                </c:pt>
                <c:pt idx="7">
                  <c:v>124</c:v>
                </c:pt>
                <c:pt idx="8">
                  <c:v>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E6-4F94-90B4-931BA717C5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45992960"/>
        <c:axId val="745996320"/>
      </c:barChart>
      <c:dateAx>
        <c:axId val="7459929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Когорта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5996320"/>
        <c:crosses val="autoZero"/>
        <c:auto val="1"/>
        <c:lblOffset val="100"/>
        <c:baseTimeUnit val="months"/>
      </c:dateAx>
      <c:valAx>
        <c:axId val="745996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пользователей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5992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Лист5!$B$1</c:f>
              <c:strCache>
                <c:ptCount val="1"/>
                <c:pt idx="0">
                  <c:v>Среднее время игровой сессии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CB165FE-85B3-4E4C-9B7E-6B1BA0CEAEA8}" type="VALUE">
                      <a:rPr lang="en-US" sz="1400"/>
                      <a:pPr>
                        <a:defRPr sz="1400"/>
                      </a:pPr>
                      <a:t>[ЗНАЧЕНИЕ]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4828626452803249E-2"/>
                      <c:h val="7.504400209778347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7483-429C-AA81-C2D6921906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Лист5!$A$2:$A$3</c:f>
              <c:strCache>
                <c:ptCount val="2"/>
                <c:pt idx="0">
                  <c:v>Другие когорты</c:v>
                </c:pt>
                <c:pt idx="1">
                  <c:v>Когорта 11-12. 2022</c:v>
                </c:pt>
              </c:strCache>
            </c:strRef>
          </c:cat>
          <c:val>
            <c:numRef>
              <c:f>Лист5!$B$2:$B$3</c:f>
              <c:numCache>
                <c:formatCode>h:mm</c:formatCode>
                <c:ptCount val="2"/>
                <c:pt idx="0">
                  <c:v>0.12291666666666666</c:v>
                </c:pt>
                <c:pt idx="1">
                  <c:v>0.15069444444444444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7B-4E2D-AC75-71F2DD2861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45997760"/>
        <c:axId val="745986240"/>
      </c:barChart>
      <c:catAx>
        <c:axId val="7459977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Когорта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5986240"/>
        <c:crosses val="autoZero"/>
        <c:auto val="1"/>
        <c:lblAlgn val="ctr"/>
        <c:lblOffset val="100"/>
        <c:noMultiLvlLbl val="0"/>
      </c:catAx>
      <c:valAx>
        <c:axId val="745986240"/>
        <c:scaling>
          <c:orientation val="minMax"/>
          <c:min val="4.200000000000001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 сессии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5997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Количество</a:t>
            </a:r>
            <a:r>
              <a:rPr lang="ru-RU" baseline="0"/>
              <a:t> лояльных пользователей</a:t>
            </a:r>
          </a:p>
          <a:p>
            <a:pPr>
              <a:defRPr/>
            </a:pPr>
            <a:r>
              <a:rPr lang="ru-RU" baseline="0"/>
              <a:t>1 и 2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Лист6!$B$1</c:f>
              <c:strCache>
                <c:ptCount val="1"/>
                <c:pt idx="0">
                  <c:v>ЛП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7"/>
              <c:layout>
                <c:manualLayout>
                  <c:x val="-5.3824028245792147E-2"/>
                  <c:y val="-3.678288672456688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161268071838557E-2"/>
                      <c:h val="5.29550228909162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6773-4662-953B-3E20D3FF0559}"/>
                </c:ext>
              </c:extLst>
            </c:dLbl>
            <c:dLbl>
              <c:idx val="9"/>
              <c:layout>
                <c:manualLayout>
                  <c:x val="-1.5543847464346524E-2"/>
                  <c:y val="-3.67828867245668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773-4662-953B-3E20D3FF05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Лист6!$A$2:$A$11</c:f>
              <c:numCache>
                <c:formatCode>mmm\-yy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Лист6!$B$2:$B$11</c:f>
              <c:numCache>
                <c:formatCode>General</c:formatCode>
                <c:ptCount val="10"/>
                <c:pt idx="0">
                  <c:v>77</c:v>
                </c:pt>
                <c:pt idx="1">
                  <c:v>148</c:v>
                </c:pt>
                <c:pt idx="2">
                  <c:v>142</c:v>
                </c:pt>
                <c:pt idx="3">
                  <c:v>133</c:v>
                </c:pt>
                <c:pt idx="4">
                  <c:v>158</c:v>
                </c:pt>
                <c:pt idx="5">
                  <c:v>154</c:v>
                </c:pt>
                <c:pt idx="6">
                  <c:v>213</c:v>
                </c:pt>
                <c:pt idx="7">
                  <c:v>250</c:v>
                </c:pt>
                <c:pt idx="8">
                  <c:v>532</c:v>
                </c:pt>
                <c:pt idx="9">
                  <c:v>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5F-494A-930D-BB232684A568}"/>
            </c:ext>
          </c:extLst>
        </c:ser>
        <c:ser>
          <c:idx val="1"/>
          <c:order val="1"/>
          <c:tx>
            <c:strRef>
              <c:f>Лист6!$C$1</c:f>
              <c:strCache>
                <c:ptCount val="1"/>
                <c:pt idx="0">
                  <c:v>ЛП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Лист6!$A$2:$A$11</c:f>
              <c:numCache>
                <c:formatCode>mmm\-yy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Лист6!$C$2:$C$11</c:f>
              <c:numCache>
                <c:formatCode>General</c:formatCode>
                <c:ptCount val="10"/>
                <c:pt idx="0">
                  <c:v>19</c:v>
                </c:pt>
                <c:pt idx="1">
                  <c:v>32</c:v>
                </c:pt>
                <c:pt idx="2">
                  <c:v>29</c:v>
                </c:pt>
                <c:pt idx="3">
                  <c:v>35</c:v>
                </c:pt>
                <c:pt idx="4">
                  <c:v>38</c:v>
                </c:pt>
                <c:pt idx="5">
                  <c:v>38</c:v>
                </c:pt>
                <c:pt idx="6">
                  <c:v>64</c:v>
                </c:pt>
                <c:pt idx="7">
                  <c:v>90</c:v>
                </c:pt>
                <c:pt idx="8">
                  <c:v>184</c:v>
                </c:pt>
                <c:pt idx="9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5F-494A-930D-BB232684A56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997280"/>
        <c:axId val="745987200"/>
      </c:lineChart>
      <c:dateAx>
        <c:axId val="7459972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5987200"/>
        <c:crosses val="autoZero"/>
        <c:auto val="1"/>
        <c:lblOffset val="100"/>
        <c:baseTimeUnit val="months"/>
      </c:dateAx>
      <c:valAx>
        <c:axId val="74598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59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Количество лояльных пользователей</a:t>
            </a:r>
          </a:p>
          <a:p>
            <a:pPr>
              <a:defRPr/>
            </a:pPr>
            <a:r>
              <a:rPr lang="ru-RU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3 и 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Лист6!$D$1</c:f>
              <c:strCache>
                <c:ptCount val="1"/>
                <c:pt idx="0">
                  <c:v>ЛП 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Лист6!$A$2:$A$11</c:f>
              <c:numCache>
                <c:formatCode>mmm\-yy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Лист6!$D$2:$D$11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12</c:v>
                </c:pt>
                <c:pt idx="4">
                  <c:v>17</c:v>
                </c:pt>
                <c:pt idx="5">
                  <c:v>16</c:v>
                </c:pt>
                <c:pt idx="6">
                  <c:v>22</c:v>
                </c:pt>
                <c:pt idx="7">
                  <c:v>29</c:v>
                </c:pt>
                <c:pt idx="8">
                  <c:v>61</c:v>
                </c:pt>
                <c:pt idx="9">
                  <c:v>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69-486C-83E8-358E2FA33C05}"/>
            </c:ext>
          </c:extLst>
        </c:ser>
        <c:ser>
          <c:idx val="1"/>
          <c:order val="1"/>
          <c:tx>
            <c:strRef>
              <c:f>Лист6!$E$1</c:f>
              <c:strCache>
                <c:ptCount val="1"/>
                <c:pt idx="0">
                  <c:v>ЛП 4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7"/>
              <c:layout>
                <c:manualLayout>
                  <c:x val="-4.9675576493050114E-2"/>
                  <c:y val="-5.085922111760789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0A2-413C-954B-17D3CC73190A}"/>
                </c:ext>
              </c:extLst>
            </c:dLbl>
            <c:dLbl>
              <c:idx val="9"/>
              <c:layout>
                <c:manualLayout>
                  <c:x val="-1.2971920714627631E-2"/>
                  <c:y val="-4.10107480186733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A2-413C-954B-17D3CC7319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Лист6!$A$2:$A$11</c:f>
              <c:numCache>
                <c:formatCode>mmm\-yy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Лист6!$E$2:$E$11</c:f>
              <c:numCache>
                <c:formatCode>General</c:formatCode>
                <c:ptCount val="10"/>
                <c:pt idx="0">
                  <c:v>91</c:v>
                </c:pt>
                <c:pt idx="1">
                  <c:v>170</c:v>
                </c:pt>
                <c:pt idx="2">
                  <c:v>161</c:v>
                </c:pt>
                <c:pt idx="3">
                  <c:v>156</c:v>
                </c:pt>
                <c:pt idx="4">
                  <c:v>179</c:v>
                </c:pt>
                <c:pt idx="5">
                  <c:v>176</c:v>
                </c:pt>
                <c:pt idx="6">
                  <c:v>255</c:v>
                </c:pt>
                <c:pt idx="7">
                  <c:v>311</c:v>
                </c:pt>
                <c:pt idx="8">
                  <c:v>655</c:v>
                </c:pt>
                <c:pt idx="9">
                  <c:v>429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69-486C-83E8-358E2FA33C0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6004480"/>
        <c:axId val="746005440"/>
      </c:lineChart>
      <c:dateAx>
        <c:axId val="7460044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6005440"/>
        <c:crosses val="autoZero"/>
        <c:auto val="1"/>
        <c:lblOffset val="100"/>
        <c:baseTimeUnit val="months"/>
      </c:dateAx>
      <c:valAx>
        <c:axId val="746005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6004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99658-0B4F-4EEF-9BA2-69B16673A888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A0BD1A-C250-4D5D-AE32-5147F2CAF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11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0BD1A-C250-4D5D-AE32-5147F2CAF8A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391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Сюда изменение цены кристалла</a:t>
            </a:r>
          </a:p>
          <a:p>
            <a:r>
              <a:rPr lang="ru-RU" dirty="0"/>
              <a:t>Было 17 </a:t>
            </a:r>
          </a:p>
          <a:p>
            <a:r>
              <a:rPr lang="ru-RU" dirty="0"/>
              <a:t>Стало 22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0BD1A-C250-4D5D-AE32-5147F2CAF8A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572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Верно ли определили лояльного пользователя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0BD1A-C250-4D5D-AE32-5147F2CAF8A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840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8DC9CE-6046-E27D-F2D7-D8C573012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9BCBDB-F4F2-76E9-6256-D1DDC04F2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FC6E2C-BCD0-53C8-149B-BB89087A1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459D39-DA6A-FD0B-A744-D0888A14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FFEE39-E8FB-F3F4-A903-96914C73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02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49D54-A63D-40F9-1387-B624FD42F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711402-F250-AAD1-087F-781406E96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BCA53B-CA2C-9859-BCF9-5F91318C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EFBD9C-0EE3-ACF1-A615-26F32964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926D6B-A931-559D-3292-21FCAF69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09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2CE47-1872-80AE-D31D-84A24B17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F07B4-1F3E-6EAA-2582-B82919899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0E39F3-C51A-B098-E825-DBFB9FBE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2E4A77-B0BC-F39E-1318-CE2BDD32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41C151-8255-D417-3EC4-88C66AE2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25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8ACE7-31ED-F7F0-10BF-CFA68CF35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CC01BB-082A-DF76-3990-E8E9F8DA0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E0423F-FD1D-BD5D-F145-127DE2D7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84D19F-BDDE-D811-2FE7-13E8A48BF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596C1B-DFD5-CB52-A566-EEE701A7A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063FEB-9C1D-5D1D-1028-099A5A3B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31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A2D97-00C8-5F30-68CA-FC20B290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6690EB-9D2E-0B05-7032-3AF52FE47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1815D2-B834-6943-4C06-259BD2F0B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8A580B-9AD0-31F2-501D-A342DA1CC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C26FF2F-52E8-B6D2-3F79-02B31FF8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79F91DB-B556-94E5-44F6-F6353918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62855E3-6376-25C3-4A30-CBFBD982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A8F3BCB-1F3B-00C9-1E4B-39075564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71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A309D-BB5C-958A-A22C-9F217F4B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A7CE4A-CC83-BBE1-9818-DBD75AA60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51CBDAF-7469-CFCD-99F2-EB315BED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6EA5FC-7CBC-C8BE-57A0-1D9BC8C5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98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638749-92F5-EFB1-6850-A3BBEE903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302871-2481-F68E-93D4-65D811495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30A79E-8DC8-98AD-6F19-FBB952DE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13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5C1A2-3E1B-5A9D-2148-2D3749DB0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5AED7D-F3FE-2AD6-D474-DE4ADC7F1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8647B8-C544-6262-F825-856CBE2EF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1E3FA0-CB0A-196E-5144-B6A198B1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B79B64-3D96-E166-7C50-7238B4A3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BDF837-486C-637F-A1EA-8A32F837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293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768B7-24C2-89B1-B700-FA4F2FA9E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79E2550-EC0F-603E-857B-E6BEF28B1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84C5FF-4661-DC85-D25E-DD57BAF34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48BF10-3622-DDCC-6C38-785CA772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B89877-2EB4-1758-D025-01898736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174FFA-DACE-CAD7-6A58-54F2C419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242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9AE6D-3908-705D-5B2A-717B9F09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5C5113-8130-2150-2D70-3D6C488A6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924EAF-DA1F-6128-8197-0A8A25C0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8ADE6C-D4DB-B82E-5759-3B9E0FE7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4FFEF7-1C16-ED2F-4DB1-8327B683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4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2258CE5-24F8-59D3-3FD7-921EB68223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A91B02-4983-D28B-ACEB-D664B9D67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EC0355-E104-5E70-A761-4A7D8573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B4DECA-135C-BF39-17D8-F7A55D68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14A61C-1951-F467-7AF8-2317F457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425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4C451-06F4-D985-A6E4-A6ABA6BD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E39BA-CC32-16FB-7399-0E0AABC24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1D3A2-19C2-FB48-F7DA-5394CDC43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4F206-B729-4ECC-96E4-323FDB76CA8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FAD099-E15C-255D-8554-512FD86A3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958402-8CCC-2EEF-AF7D-94293BE2D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BF270-1D76-4FED-9435-555C655E8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040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C4422-68E6-DFEE-9B04-C517370DE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535"/>
            <a:ext cx="9144000" cy="2387600"/>
          </a:xfrm>
        </p:spPr>
        <p:txBody>
          <a:bodyPr/>
          <a:lstStyle/>
          <a:p>
            <a:r>
              <a:rPr lang="en-US" dirty="0"/>
              <a:t>Zombie Revolution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6658AD-C681-888B-D3D3-85AEB8145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9104"/>
            <a:ext cx="9144000" cy="1655762"/>
          </a:xfrm>
        </p:spPr>
        <p:txBody>
          <a:bodyPr/>
          <a:lstStyle/>
          <a:p>
            <a:r>
              <a:rPr lang="ru-RU" dirty="0"/>
              <a:t>Аналитический отчет</a:t>
            </a:r>
          </a:p>
          <a:p>
            <a:r>
              <a:rPr lang="ru-RU" dirty="0"/>
              <a:t>07.2022 – 04.2023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0CDC1CF-6277-C937-7600-B6DFBF0A5427}"/>
              </a:ext>
            </a:extLst>
          </p:cNvPr>
          <p:cNvSpPr txBox="1">
            <a:spLocks/>
          </p:cNvSpPr>
          <p:nvPr/>
        </p:nvSpPr>
        <p:spPr>
          <a:xfrm>
            <a:off x="1634150" y="4807707"/>
            <a:ext cx="8923699" cy="47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Курсовая работа по теме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SQL</a:t>
            </a:r>
            <a:endParaRPr lang="ru-RU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81567A90-585C-08A9-97B2-6232C4579D50}"/>
              </a:ext>
            </a:extLst>
          </p:cNvPr>
          <p:cNvSpPr txBox="1">
            <a:spLocks/>
          </p:cNvSpPr>
          <p:nvPr/>
        </p:nvSpPr>
        <p:spPr>
          <a:xfrm>
            <a:off x="10302845" y="6252002"/>
            <a:ext cx="1889155" cy="47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1">
                    <a:lumMod val="50000"/>
                  </a:schemeClr>
                </a:solidFill>
              </a:rPr>
              <a:t>Бутенко Егор</a:t>
            </a:r>
          </a:p>
        </p:txBody>
      </p:sp>
    </p:spTree>
    <p:extLst>
      <p:ext uri="{BB962C8B-B14F-4D97-AF65-F5344CB8AC3E}">
        <p14:creationId xmlns:p14="http://schemas.microsoft.com/office/powerpoint/2010/main" val="267621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041A0-57FB-97BB-2CC6-AC8AAE11E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769198" cy="440633"/>
          </a:xfrm>
        </p:spPr>
        <p:txBody>
          <a:bodyPr>
            <a:normAutofit fontScale="90000"/>
          </a:bodyPr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8651D0-EC3D-A3E6-C79F-2E2686172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4" y="1128508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Структурируйте ваш результирующий </a:t>
            </a:r>
            <a:r>
              <a:rPr lang="ru-RU" i="1" dirty="0"/>
              <a:t>сторителлинг</a:t>
            </a:r>
            <a:r>
              <a:rPr lang="ru-RU" dirty="0"/>
              <a:t> следующим образом:</a:t>
            </a:r>
          </a:p>
          <a:p>
            <a:r>
              <a:rPr lang="ru-RU" dirty="0"/>
              <a:t>Расскажите об общих показателях игры (кол-во игроков, кол-во сессий, средняя длина сессий и т.д.). Выберете те показатели, которые считаете самыми важными (</a:t>
            </a:r>
            <a:r>
              <a:rPr lang="ru-RU" b="1" dirty="0"/>
              <a:t>ТЗ-1 видеолекция</a:t>
            </a:r>
            <a:r>
              <a:rPr lang="ru-RU" dirty="0"/>
              <a:t>).</a:t>
            </a:r>
          </a:p>
          <a:p>
            <a:r>
              <a:rPr lang="ru-RU" dirty="0"/>
              <a:t>Опишите, какие технические проблемы возникают в игре и как часто они появляются. (</a:t>
            </a:r>
            <a:r>
              <a:rPr lang="ru-RU" b="1" dirty="0"/>
              <a:t>ТЗ-1 Домашнее задание</a:t>
            </a:r>
            <a:r>
              <a:rPr lang="ru-RU" dirty="0"/>
              <a:t>).</a:t>
            </a:r>
          </a:p>
          <a:p>
            <a:r>
              <a:rPr lang="ru-RU" dirty="0"/>
              <a:t>Расскажите о результатах маркетинговой акции, опираясь на основные метрики, например MAU и другие ключевые показатели. (</a:t>
            </a:r>
            <a:r>
              <a:rPr lang="ru-RU" b="1" dirty="0"/>
              <a:t>ТЗ-1 домашнее задание</a:t>
            </a:r>
            <a:r>
              <a:rPr lang="ru-RU" dirty="0"/>
              <a:t>).</a:t>
            </a:r>
          </a:p>
          <a:p>
            <a:r>
              <a:rPr lang="ru-RU" dirty="0"/>
              <a:t>Представьте финансовые метрики по ключевым разрезам и приведите цифровую оценку изменения стоимости кристаллов. (</a:t>
            </a:r>
            <a:r>
              <a:rPr lang="ru-RU" b="1" dirty="0"/>
              <a:t>ТЗ-2 видеолекция</a:t>
            </a:r>
            <a:r>
              <a:rPr lang="ru-RU" dirty="0"/>
              <a:t>).</a:t>
            </a:r>
          </a:p>
          <a:p>
            <a:r>
              <a:rPr lang="ru-RU" dirty="0"/>
              <a:t>Расскажите о показателе вирусности игры (k-</a:t>
            </a:r>
            <a:r>
              <a:rPr lang="ru-RU" dirty="0" err="1"/>
              <a:t>factor</a:t>
            </a:r>
            <a:r>
              <a:rPr lang="ru-RU" dirty="0"/>
              <a:t>). (</a:t>
            </a:r>
            <a:r>
              <a:rPr lang="ru-RU" b="1" dirty="0"/>
              <a:t>ТЗ-2 Домашнее задание</a:t>
            </a:r>
            <a:r>
              <a:rPr lang="ru-RU" dirty="0"/>
              <a:t>).</a:t>
            </a:r>
          </a:p>
          <a:p>
            <a:r>
              <a:rPr lang="ru-RU" dirty="0"/>
              <a:t>Расскажите о результатах использования нового канала привлечения студентов в ноябре–декабре 2022 года. (</a:t>
            </a:r>
            <a:r>
              <a:rPr lang="ru-RU" b="1" dirty="0"/>
              <a:t>ТЗ-2 Домашнее задание</a:t>
            </a:r>
            <a:r>
              <a:rPr lang="ru-RU" dirty="0"/>
              <a:t>).</a:t>
            </a:r>
          </a:p>
          <a:p>
            <a:r>
              <a:rPr lang="ru-RU" dirty="0"/>
              <a:t>Расскажите о понятии «лояльного пользователя», как вы решили его определять и расскажите о динамике количества лояльных пользователей. (</a:t>
            </a:r>
            <a:r>
              <a:rPr lang="ru-RU" b="1" dirty="0"/>
              <a:t>ТЗ-3 </a:t>
            </a:r>
            <a:r>
              <a:rPr lang="ru-RU" b="1" dirty="0" err="1"/>
              <a:t>видеолеция</a:t>
            </a:r>
            <a:r>
              <a:rPr lang="ru-RU" dirty="0"/>
              <a:t>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8964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7D982-9C63-CF1F-ED11-D61377C42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813"/>
            <a:ext cx="2924070" cy="1257525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Общие данные</a:t>
            </a:r>
            <a:br>
              <a:rPr lang="ru-RU" sz="3200" dirty="0"/>
            </a:br>
            <a:r>
              <a:rPr lang="ru-RU" sz="2400" dirty="0"/>
              <a:t>на период</a:t>
            </a:r>
            <a:br>
              <a:rPr lang="ru-RU" sz="2400" dirty="0"/>
            </a:br>
            <a:r>
              <a:rPr lang="ru-RU" sz="2400" dirty="0"/>
              <a:t>07.2022 – 04.2023</a:t>
            </a:r>
            <a:endParaRPr lang="ru-RU" sz="3200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53F0140F-1BFE-411F-9F69-51DE4C3547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2479470"/>
              </p:ext>
            </p:extLst>
          </p:nvPr>
        </p:nvGraphicFramePr>
        <p:xfrm>
          <a:off x="1164744" y="2465335"/>
          <a:ext cx="9105535" cy="4059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36D035A-2BE5-5386-8A98-D390666D23A1}"/>
              </a:ext>
            </a:extLst>
          </p:cNvPr>
          <p:cNvSpPr txBox="1"/>
          <p:nvPr/>
        </p:nvSpPr>
        <p:spPr>
          <a:xfrm>
            <a:off x="0" y="1726671"/>
            <a:ext cx="6174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Пользователей в базе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4AE86-71BE-9DC6-14B8-7A49BA65817F}"/>
              </a:ext>
            </a:extLst>
          </p:cNvPr>
          <p:cNvSpPr txBox="1"/>
          <p:nvPr/>
        </p:nvSpPr>
        <p:spPr>
          <a:xfrm>
            <a:off x="5717512" y="1172673"/>
            <a:ext cx="61747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Первая регистрация            </a:t>
            </a:r>
            <a:r>
              <a:rPr lang="ru-RU" sz="2400" dirty="0"/>
              <a:t>01.07.2022 </a:t>
            </a:r>
          </a:p>
          <a:p>
            <a:endParaRPr lang="ru-RU" dirty="0"/>
          </a:p>
          <a:p>
            <a:r>
              <a:rPr lang="ru-RU" dirty="0"/>
              <a:t>П</a:t>
            </a:r>
            <a:r>
              <a:rPr lang="ru-RU" sz="1800" dirty="0"/>
              <a:t>оследняя регистрация    </a:t>
            </a:r>
            <a:r>
              <a:rPr lang="ru-RU" sz="2400" dirty="0"/>
              <a:t>30.03.2023</a:t>
            </a:r>
            <a:endParaRPr lang="ru-RU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D62FBE-630B-1DB9-DDEB-20D9EA491145}"/>
              </a:ext>
            </a:extLst>
          </p:cNvPr>
          <p:cNvSpPr txBox="1"/>
          <p:nvPr/>
        </p:nvSpPr>
        <p:spPr>
          <a:xfrm>
            <a:off x="2530510" y="1618949"/>
            <a:ext cx="11136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3078</a:t>
            </a:r>
            <a:endParaRPr lang="ru-RU" sz="18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968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345C00-09F4-8077-6E90-672F7517237D}"/>
              </a:ext>
            </a:extLst>
          </p:cNvPr>
          <p:cNvSpPr txBox="1"/>
          <p:nvPr/>
        </p:nvSpPr>
        <p:spPr>
          <a:xfrm>
            <a:off x="56173" y="2679733"/>
            <a:ext cx="3920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Количество игровых сессий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903E6-666B-02D1-58AE-1ED5883DA1CB}"/>
              </a:ext>
            </a:extLst>
          </p:cNvPr>
          <p:cNvSpPr txBox="1"/>
          <p:nvPr/>
        </p:nvSpPr>
        <p:spPr>
          <a:xfrm>
            <a:off x="56173" y="3548063"/>
            <a:ext cx="2797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Средняя длина сессии</a:t>
            </a:r>
            <a:endParaRPr lang="ru-RU" sz="1800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943CFD3-80C6-852C-8B6E-8B38EA1D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813"/>
            <a:ext cx="2924070" cy="1257525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Общие данные</a:t>
            </a:r>
            <a:br>
              <a:rPr lang="ru-RU" sz="3200" dirty="0"/>
            </a:br>
            <a:r>
              <a:rPr lang="ru-RU" sz="2400" dirty="0"/>
              <a:t>на период</a:t>
            </a:r>
            <a:br>
              <a:rPr lang="ru-RU" sz="2400" dirty="0"/>
            </a:br>
            <a:r>
              <a:rPr lang="ru-RU" sz="2400" dirty="0"/>
              <a:t>07.2022 – 04.2023</a:t>
            </a:r>
            <a:endParaRPr lang="ru-RU" sz="3200" dirty="0"/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3121D325-FB71-5A75-C507-B6DC1B9B53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5079942"/>
              </p:ext>
            </p:extLst>
          </p:nvPr>
        </p:nvGraphicFramePr>
        <p:xfrm>
          <a:off x="6096000" y="305864"/>
          <a:ext cx="5640475" cy="3492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2DF987E1-A3DA-75BB-78ED-8334BA21E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645071"/>
              </p:ext>
            </p:extLst>
          </p:nvPr>
        </p:nvGraphicFramePr>
        <p:xfrm>
          <a:off x="6096000" y="3889323"/>
          <a:ext cx="5640475" cy="2662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C6503DD-7FC5-3A77-8A10-9E80F1E55B96}"/>
              </a:ext>
            </a:extLst>
          </p:cNvPr>
          <p:cNvSpPr txBox="1"/>
          <p:nvPr/>
        </p:nvSpPr>
        <p:spPr>
          <a:xfrm>
            <a:off x="3325959" y="2572011"/>
            <a:ext cx="130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27161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3D6195-02CA-C96C-FE5A-C35B6F8AF1E1}"/>
              </a:ext>
            </a:extLst>
          </p:cNvPr>
          <p:cNvSpPr txBox="1"/>
          <p:nvPr/>
        </p:nvSpPr>
        <p:spPr>
          <a:xfrm>
            <a:off x="2924070" y="3471119"/>
            <a:ext cx="2198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часа </a:t>
            </a:r>
            <a:r>
              <a:rPr lang="ru-RU" sz="2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26</a:t>
            </a:r>
            <a:r>
              <a:rPr lang="ru-RU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минут</a:t>
            </a:r>
            <a:endParaRPr lang="ru-RU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261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64036-3BB0-0698-9FB8-D2322F743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3287949" cy="1145560"/>
          </a:xfrm>
        </p:spPr>
        <p:txBody>
          <a:bodyPr>
            <a:normAutofit/>
          </a:bodyPr>
          <a:lstStyle/>
          <a:p>
            <a:r>
              <a:rPr lang="ru-RU" sz="3200" dirty="0"/>
              <a:t>Технические </a:t>
            </a:r>
            <a:br>
              <a:rPr lang="ru-RU" sz="3200" dirty="0"/>
            </a:br>
            <a:r>
              <a:rPr lang="ru-RU" sz="3200" dirty="0"/>
              <a:t>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1D1E3E-A9AA-23CA-AB3E-2686E4CBE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82" y="3170423"/>
            <a:ext cx="4772129" cy="592033"/>
          </a:xfrm>
        </p:spPr>
        <p:txBody>
          <a:bodyPr>
            <a:normAutofit/>
          </a:bodyPr>
          <a:lstStyle/>
          <a:p>
            <a:r>
              <a:rPr lang="ru-RU" sz="2000" dirty="0"/>
              <a:t>Количество сессий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6C636349-14CD-A0A0-FA81-DF2772E033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3892319"/>
              </p:ext>
            </p:extLst>
          </p:nvPr>
        </p:nvGraphicFramePr>
        <p:xfrm>
          <a:off x="5915580" y="1215850"/>
          <a:ext cx="5521960" cy="4752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Объект 2">
            <a:extLst>
              <a:ext uri="{FF2B5EF4-FFF2-40B4-BE49-F238E27FC236}">
                <a16:creationId xmlns:a16="http://schemas.microsoft.com/office/drawing/2014/main" id="{CEFB5851-DC94-3251-B7F2-2AD003C111AD}"/>
              </a:ext>
            </a:extLst>
          </p:cNvPr>
          <p:cNvSpPr txBox="1">
            <a:spLocks/>
          </p:cNvSpPr>
          <p:nvPr/>
        </p:nvSpPr>
        <p:spPr>
          <a:xfrm>
            <a:off x="273983" y="4093174"/>
            <a:ext cx="3554440" cy="75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Количество сессий без данных об их окончании 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A1FEB61F-A0AA-C0D4-AE17-4E8847716B49}"/>
              </a:ext>
            </a:extLst>
          </p:cNvPr>
          <p:cNvSpPr txBox="1">
            <a:spLocks/>
          </p:cNvSpPr>
          <p:nvPr/>
        </p:nvSpPr>
        <p:spPr>
          <a:xfrm>
            <a:off x="264056" y="5182911"/>
            <a:ext cx="2913184" cy="511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 Доля таких сессий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D985AFB-5616-D622-4E04-58DBE5E3F846}"/>
              </a:ext>
            </a:extLst>
          </p:cNvPr>
          <p:cNvSpPr txBox="1">
            <a:spLocks/>
          </p:cNvSpPr>
          <p:nvPr/>
        </p:nvSpPr>
        <p:spPr>
          <a:xfrm>
            <a:off x="3828423" y="4087782"/>
            <a:ext cx="1198093" cy="75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rgbClr val="C00000"/>
                </a:solidFill>
              </a:rPr>
              <a:t>3 262</a:t>
            </a:r>
            <a:endParaRPr lang="ru-RU" sz="2000" dirty="0">
              <a:solidFill>
                <a:srgbClr val="C00000"/>
              </a:solidFill>
            </a:endParaRP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34C30F8-12C5-27A2-9F30-2C88207B0AE0}"/>
              </a:ext>
            </a:extLst>
          </p:cNvPr>
          <p:cNvSpPr txBox="1">
            <a:spLocks/>
          </p:cNvSpPr>
          <p:nvPr/>
        </p:nvSpPr>
        <p:spPr>
          <a:xfrm>
            <a:off x="3730788" y="3103115"/>
            <a:ext cx="1466805" cy="592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 </a:t>
            </a:r>
            <a:r>
              <a:rPr lang="ru-RU" sz="3200" dirty="0"/>
              <a:t>27 161</a:t>
            </a:r>
            <a:endParaRPr lang="ru-RU" sz="2000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228C42F-04E5-5C6A-D388-8101C573FCFC}"/>
              </a:ext>
            </a:extLst>
          </p:cNvPr>
          <p:cNvSpPr txBox="1">
            <a:spLocks/>
          </p:cNvSpPr>
          <p:nvPr/>
        </p:nvSpPr>
        <p:spPr>
          <a:xfrm>
            <a:off x="3798645" y="5091618"/>
            <a:ext cx="1495530" cy="602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rgbClr val="C00000"/>
                </a:solidFill>
              </a:rPr>
              <a:t>12%</a:t>
            </a:r>
          </a:p>
        </p:txBody>
      </p:sp>
    </p:spTree>
    <p:extLst>
      <p:ext uri="{BB962C8B-B14F-4D97-AF65-F5344CB8AC3E}">
        <p14:creationId xmlns:p14="http://schemas.microsoft.com/office/powerpoint/2010/main" val="4065975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BED8D03-24B5-5E89-E026-3B76E4D85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513" y="1208858"/>
            <a:ext cx="10406974" cy="22787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/>
              <a:t>В марте 2023 года маркетинг провёл акцию: </a:t>
            </a:r>
          </a:p>
          <a:p>
            <a:pPr marL="0" indent="0" algn="just">
              <a:buNone/>
            </a:pPr>
            <a:r>
              <a:rPr lang="ru-RU" sz="2000" dirty="0"/>
              <a:t>чем чаще игрок заходил в игру, тем больше получал бесплатных кристаллов. </a:t>
            </a:r>
          </a:p>
          <a:p>
            <a:pPr marL="0" indent="0" algn="ctr">
              <a:buNone/>
            </a:pPr>
            <a:r>
              <a:rPr lang="ru-RU" sz="2000" dirty="0"/>
              <a:t>Акция шла </a:t>
            </a:r>
            <a:r>
              <a:rPr lang="ru-R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первые 3 недели марта</a:t>
            </a:r>
            <a:r>
              <a:rPr lang="ru-RU" sz="2000" dirty="0"/>
              <a:t>.</a:t>
            </a:r>
          </a:p>
          <a:p>
            <a:pPr marL="0" indent="0" algn="ctr">
              <a:buNone/>
            </a:pPr>
            <a:r>
              <a:rPr lang="ru-RU" sz="2000" dirty="0"/>
              <a:t> за время проведения акции:</a:t>
            </a:r>
          </a:p>
          <a:p>
            <a:pPr algn="just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62129-7C80-5602-21E6-384C8592CEE4}"/>
              </a:ext>
            </a:extLst>
          </p:cNvPr>
          <p:cNvSpPr txBox="1"/>
          <p:nvPr/>
        </p:nvSpPr>
        <p:spPr>
          <a:xfrm>
            <a:off x="0" y="10049"/>
            <a:ext cx="48634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Маркетинговая акция</a:t>
            </a:r>
          </a:p>
          <a:p>
            <a:r>
              <a:rPr lang="ru-RU" sz="3200" dirty="0"/>
              <a:t>03.202</a:t>
            </a:r>
            <a:r>
              <a:rPr lang="en-US" sz="3200" dirty="0"/>
              <a:t>3</a:t>
            </a:r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B2FD1-FE99-B8A1-C48E-4182B2885782}"/>
              </a:ext>
            </a:extLst>
          </p:cNvPr>
          <p:cNvSpPr txBox="1"/>
          <p:nvPr/>
        </p:nvSpPr>
        <p:spPr>
          <a:xfrm>
            <a:off x="28188" y="3186716"/>
            <a:ext cx="40333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Количество новых пользователей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 </a:t>
            </a:r>
            <a:r>
              <a:rPr lang="ru-RU" sz="3600" dirty="0">
                <a:solidFill>
                  <a:schemeClr val="accent6">
                    <a:lumMod val="75000"/>
                  </a:schemeClr>
                </a:solidFill>
              </a:rPr>
              <a:t>452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85CE5-4566-2A80-862E-5F9FD4CC5A9E}"/>
              </a:ext>
            </a:extLst>
          </p:cNvPr>
          <p:cNvSpPr txBox="1"/>
          <p:nvPr/>
        </p:nvSpPr>
        <p:spPr>
          <a:xfrm>
            <a:off x="415049" y="4870666"/>
            <a:ext cx="325957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Доля от всех пользователей</a:t>
            </a:r>
          </a:p>
          <a:p>
            <a:pPr algn="ctr"/>
            <a:r>
              <a:rPr lang="ru-RU" sz="2400" dirty="0"/>
              <a:t>  </a:t>
            </a:r>
          </a:p>
          <a:p>
            <a:pPr algn="ctr"/>
            <a:r>
              <a:rPr lang="ru-RU" sz="3600" dirty="0">
                <a:solidFill>
                  <a:schemeClr val="accent6">
                    <a:lumMod val="75000"/>
                  </a:schemeClr>
                </a:solidFill>
              </a:rPr>
              <a:t>15%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6A6243-163F-859B-0D31-AB1F734B7DD2}"/>
              </a:ext>
            </a:extLst>
          </p:cNvPr>
          <p:cNvSpPr txBox="1"/>
          <p:nvPr/>
        </p:nvSpPr>
        <p:spPr>
          <a:xfrm>
            <a:off x="4061489" y="3186716"/>
            <a:ext cx="40333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Количество игровых сессий новых пользователей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 </a:t>
            </a:r>
            <a:r>
              <a:rPr lang="ru-RU" sz="3600" dirty="0">
                <a:solidFill>
                  <a:schemeClr val="accent6">
                    <a:lumMod val="75000"/>
                  </a:schemeClr>
                </a:solidFill>
              </a:rPr>
              <a:t>4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ru-RU" sz="3600" dirty="0">
                <a:solidFill>
                  <a:schemeClr val="accent6">
                    <a:lumMod val="75000"/>
                  </a:schemeClr>
                </a:solidFill>
              </a:rPr>
              <a:t>532</a:t>
            </a: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C870F-1B7A-653E-950B-C9B413EC13BE}"/>
              </a:ext>
            </a:extLst>
          </p:cNvPr>
          <p:cNvSpPr txBox="1"/>
          <p:nvPr/>
        </p:nvSpPr>
        <p:spPr>
          <a:xfrm>
            <a:off x="4448350" y="4870666"/>
            <a:ext cx="325957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Доля от всех    </a:t>
            </a:r>
          </a:p>
          <a:p>
            <a:pPr algn="ctr"/>
            <a:r>
              <a:rPr lang="ru-RU" sz="2000" dirty="0"/>
              <a:t>игровых сессий</a:t>
            </a:r>
          </a:p>
          <a:p>
            <a:pPr algn="ctr"/>
            <a:r>
              <a:rPr lang="ru-RU" sz="2400" dirty="0"/>
              <a:t>  </a:t>
            </a:r>
          </a:p>
          <a:p>
            <a:pPr algn="ctr"/>
            <a:r>
              <a:rPr lang="ru-RU" sz="3600" dirty="0">
                <a:solidFill>
                  <a:schemeClr val="accent6">
                    <a:lumMod val="75000"/>
                  </a:schemeClr>
                </a:solidFill>
              </a:rPr>
              <a:t>17%</a:t>
            </a:r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11AE2-B688-0BAE-7D6A-35FF22BB5374}"/>
              </a:ext>
            </a:extLst>
          </p:cNvPr>
          <p:cNvSpPr txBox="1"/>
          <p:nvPr/>
        </p:nvSpPr>
        <p:spPr>
          <a:xfrm>
            <a:off x="8130510" y="4124803"/>
            <a:ext cx="403330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Выручка</a:t>
            </a:r>
          </a:p>
          <a:p>
            <a:pPr algn="ctr"/>
            <a:r>
              <a:rPr lang="ru-RU" sz="2000" dirty="0"/>
              <a:t>от новых пользователей</a:t>
            </a:r>
          </a:p>
          <a:p>
            <a:pPr algn="ctr"/>
            <a:r>
              <a:rPr lang="ru-RU" dirty="0"/>
              <a:t>(за все наблюдаемое время)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 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142 133 </a:t>
            </a:r>
            <a:r>
              <a:rPr lang="ru-RU" sz="3600" dirty="0">
                <a:solidFill>
                  <a:schemeClr val="accent6">
                    <a:lumMod val="75000"/>
                  </a:schemeClr>
                </a:solidFill>
              </a:rPr>
              <a:t>₽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8651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5E01EAD-5417-5C6E-FCAB-8DCE06EFD7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3272460"/>
              </p:ext>
            </p:extLst>
          </p:nvPr>
        </p:nvGraphicFramePr>
        <p:xfrm>
          <a:off x="3003149" y="3549581"/>
          <a:ext cx="8989926" cy="3123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F9BBF81-2273-22A4-BAB7-92706B94DF1F}"/>
              </a:ext>
            </a:extLst>
          </p:cNvPr>
          <p:cNvSpPr txBox="1"/>
          <p:nvPr/>
        </p:nvSpPr>
        <p:spPr>
          <a:xfrm>
            <a:off x="0" y="0"/>
            <a:ext cx="298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DAU WAU</a:t>
            </a:r>
            <a:r>
              <a:rPr lang="ru-RU" sz="3200" dirty="0"/>
              <a:t> </a:t>
            </a:r>
            <a:r>
              <a:rPr lang="en-US" sz="3200" dirty="0"/>
              <a:t>MAU </a:t>
            </a:r>
            <a:r>
              <a:rPr lang="ru-RU" sz="3200" dirty="0"/>
              <a:t>	</a:t>
            </a:r>
            <a:r>
              <a:rPr lang="en-US" sz="3200" dirty="0"/>
              <a:t>&amp;</a:t>
            </a:r>
          </a:p>
          <a:p>
            <a:r>
              <a:rPr lang="en-US" sz="3200" dirty="0"/>
              <a:t>Sticky factor</a:t>
            </a:r>
            <a:endParaRPr lang="ru-RU" sz="3200" dirty="0"/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99B088D3-2EB4-4052-AB5F-EE6703EE32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3107383"/>
              </p:ext>
            </p:extLst>
          </p:nvPr>
        </p:nvGraphicFramePr>
        <p:xfrm>
          <a:off x="2986401" y="112260"/>
          <a:ext cx="8989926" cy="3316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8632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898C7-0F6F-3F1C-1FAF-4940F04E3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44"/>
            <a:ext cx="6617677" cy="1325563"/>
          </a:xfrm>
        </p:spPr>
        <p:txBody>
          <a:bodyPr>
            <a:normAutofit/>
          </a:bodyPr>
          <a:lstStyle/>
          <a:p>
            <a:r>
              <a:rPr lang="ru-RU" sz="3200" dirty="0"/>
              <a:t>Финансовые </a:t>
            </a:r>
            <a:br>
              <a:rPr lang="ru-RU" sz="3200" dirty="0"/>
            </a:br>
            <a:r>
              <a:rPr lang="ru-RU" sz="3200" dirty="0"/>
              <a:t>показатели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60FE6-CB6D-E871-CF30-DBE7281E827D}"/>
              </a:ext>
            </a:extLst>
          </p:cNvPr>
          <p:cNvSpPr txBox="1"/>
          <p:nvPr/>
        </p:nvSpPr>
        <p:spPr>
          <a:xfrm>
            <a:off x="286099" y="2022175"/>
            <a:ext cx="364755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Общая выручка с продажи игровых предметов </a:t>
            </a:r>
          </a:p>
          <a:p>
            <a:pPr algn="ctr"/>
            <a:endParaRPr lang="ru-RU" dirty="0"/>
          </a:p>
          <a:p>
            <a:pPr algn="ctr"/>
            <a:r>
              <a:rPr lang="ru-RU" sz="4000" dirty="0">
                <a:solidFill>
                  <a:schemeClr val="accent6">
                    <a:lumMod val="75000"/>
                  </a:schemeClr>
                </a:solidFill>
              </a:rPr>
              <a:t>986 244 ₽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A60C426E-71A0-D5C3-7124-F1B6D99769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9190170"/>
              </p:ext>
            </p:extLst>
          </p:nvPr>
        </p:nvGraphicFramePr>
        <p:xfrm>
          <a:off x="3818374" y="1928154"/>
          <a:ext cx="7910184" cy="3598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5045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844E-7EDE-392E-EB9C-6182D818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0" y="30145"/>
            <a:ext cx="6702251" cy="1325563"/>
          </a:xfrm>
        </p:spPr>
        <p:txBody>
          <a:bodyPr>
            <a:normAutofit/>
          </a:bodyPr>
          <a:lstStyle/>
          <a:p>
            <a:r>
              <a:rPr lang="ru-RU" sz="3200" dirty="0"/>
              <a:t>Выручка  </a:t>
            </a:r>
            <a:br>
              <a:rPr lang="ru-RU" sz="3200" dirty="0"/>
            </a:br>
            <a:r>
              <a:rPr lang="ru-RU" sz="3200" dirty="0"/>
              <a:t>от разных типов игровых предметов</a:t>
            </a: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06A45737-72A4-3B22-D8B9-9A595A4266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3266619"/>
              </p:ext>
            </p:extLst>
          </p:nvPr>
        </p:nvGraphicFramePr>
        <p:xfrm>
          <a:off x="359923" y="1274324"/>
          <a:ext cx="11663464" cy="5272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0967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E0399-623F-CA86-9307-3C5CE3677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20" y="123965"/>
            <a:ext cx="4972846" cy="770339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Увеличение стоимости кристалла</a:t>
            </a:r>
            <a:r>
              <a:rPr lang="en-US" sz="2800" dirty="0"/>
              <a:t> </a:t>
            </a:r>
            <a:br>
              <a:rPr lang="ru-RU" sz="2800" dirty="0"/>
            </a:br>
            <a:r>
              <a:rPr lang="ru-RU" sz="2800" dirty="0"/>
              <a:t>с 01.01.2023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32A09-2B0A-C713-9E20-B40707EAA53A}"/>
              </a:ext>
            </a:extLst>
          </p:cNvPr>
          <p:cNvSpPr txBox="1"/>
          <p:nvPr/>
        </p:nvSpPr>
        <p:spPr>
          <a:xfrm>
            <a:off x="114720" y="1233307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Выручка с одного кристалла увеличилась на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lang="ru-RU" dirty="0"/>
              <a:t>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₽</a:t>
            </a:r>
            <a:r>
              <a:rPr lang="ru-RU" dirty="0"/>
              <a:t> </a:t>
            </a: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72A7D04E-1B21-0C9D-1AA9-B4189C8FBB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5314675"/>
              </p:ext>
            </p:extLst>
          </p:nvPr>
        </p:nvGraphicFramePr>
        <p:xfrm>
          <a:off x="466927" y="1692613"/>
          <a:ext cx="11342451" cy="4805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388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FB944-6900-763B-8221-B1CC31F7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5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dirty="0"/>
              <a:t>Когорты </a:t>
            </a:r>
            <a:br>
              <a:rPr lang="ru-RU" sz="2800" dirty="0"/>
            </a:br>
            <a:r>
              <a:rPr lang="ru-RU" sz="2800" dirty="0"/>
              <a:t>Выручка по когортам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87091317-A411-7C4C-45FA-12C2AA020F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8574009"/>
              </p:ext>
            </p:extLst>
          </p:nvPr>
        </p:nvGraphicFramePr>
        <p:xfrm>
          <a:off x="5751361" y="2793444"/>
          <a:ext cx="5874581" cy="33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9D5F6F5-C44B-3FD5-89EA-31608E232A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8087210"/>
              </p:ext>
            </p:extLst>
          </p:nvPr>
        </p:nvGraphicFramePr>
        <p:xfrm>
          <a:off x="21645" y="1506022"/>
          <a:ext cx="5263788" cy="3015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60354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B8635-DE8B-E529-C1AB-083C2CC3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5" y="0"/>
            <a:ext cx="2497853" cy="1325563"/>
          </a:xfrm>
        </p:spPr>
        <p:txBody>
          <a:bodyPr>
            <a:normAutofit/>
          </a:bodyPr>
          <a:lstStyle/>
          <a:p>
            <a:r>
              <a:rPr lang="en-US" sz="3200" dirty="0"/>
              <a:t>K-factor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283658-153F-195F-2209-75D22D990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088" y="2227559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K-factor  </a:t>
            </a:r>
            <a:r>
              <a:rPr lang="en-US" sz="4400" dirty="0">
                <a:solidFill>
                  <a:schemeClr val="accent6"/>
                </a:solidFill>
              </a:rPr>
              <a:t>0,92</a:t>
            </a:r>
            <a:endParaRPr lang="ru-RU" sz="4400" dirty="0">
              <a:solidFill>
                <a:schemeClr val="accent6"/>
              </a:solidFill>
            </a:endParaRPr>
          </a:p>
          <a:p>
            <a:endParaRPr lang="en-US" sz="3200" dirty="0"/>
          </a:p>
          <a:p>
            <a:r>
              <a:rPr lang="ru-RU" sz="3200" dirty="0"/>
              <a:t>Среднее количество пользователей в когорте </a:t>
            </a:r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342</a:t>
            </a:r>
            <a:endParaRPr lang="ru-RU" sz="32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3200" dirty="0"/>
          </a:p>
          <a:p>
            <a:r>
              <a:rPr lang="ru-RU" sz="3200" dirty="0"/>
              <a:t>Привлечение пользователей средней когортой </a:t>
            </a:r>
            <a:r>
              <a:rPr lang="en-US" sz="4400" dirty="0">
                <a:solidFill>
                  <a:schemeClr val="accent6"/>
                </a:solidFill>
              </a:rPr>
              <a:t>315</a:t>
            </a:r>
            <a:endParaRPr lang="en-US" sz="3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26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58B61-2F63-2ADD-A233-24E0F7F2F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06013" cy="1325563"/>
          </a:xfrm>
        </p:spPr>
        <p:txBody>
          <a:bodyPr>
            <a:normAutofit/>
          </a:bodyPr>
          <a:lstStyle/>
          <a:p>
            <a:r>
              <a:rPr lang="ru-RU" sz="3200" dirty="0"/>
              <a:t>Новый канал </a:t>
            </a:r>
            <a:br>
              <a:rPr lang="ru-RU" sz="3200" dirty="0"/>
            </a:br>
            <a:r>
              <a:rPr lang="ru-RU" sz="3200" dirty="0"/>
              <a:t>привлечения пользователей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1E984-08A7-7B65-C88F-E83EAE35FE26}"/>
              </a:ext>
            </a:extLst>
          </p:cNvPr>
          <p:cNvSpPr txBox="1"/>
          <p:nvPr/>
        </p:nvSpPr>
        <p:spPr>
          <a:xfrm>
            <a:off x="0" y="1451115"/>
            <a:ext cx="60943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ноябре и декабре 2022 года была опробована альтернативная стратегия привлечения клиентов.</a:t>
            </a:r>
          </a:p>
          <a:p>
            <a:endParaRPr lang="ru-RU" dirty="0"/>
          </a:p>
          <a:p>
            <a:r>
              <a:rPr lang="ru-RU" dirty="0"/>
              <a:t>Цель: приобрести более «лояльных» пользователей</a:t>
            </a:r>
          </a:p>
          <a:p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5351AB0F-E6D5-D334-C081-DDCF26DC05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7681139"/>
              </p:ext>
            </p:extLst>
          </p:nvPr>
        </p:nvGraphicFramePr>
        <p:xfrm>
          <a:off x="339980" y="3169602"/>
          <a:ext cx="5940240" cy="3212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DEDCDF-99FD-BF74-F5E1-03B87D9B4224}"/>
              </a:ext>
            </a:extLst>
          </p:cNvPr>
          <p:cNvSpPr txBox="1"/>
          <p:nvPr/>
        </p:nvSpPr>
        <p:spPr>
          <a:xfrm>
            <a:off x="6925014" y="4175894"/>
            <a:ext cx="42686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Средняя выручка с одного клиента</a:t>
            </a:r>
          </a:p>
          <a:p>
            <a:pPr algn="ctr"/>
            <a:endParaRPr lang="ru-RU" dirty="0"/>
          </a:p>
          <a:p>
            <a:r>
              <a:rPr lang="ru-RU" dirty="0"/>
              <a:t>Другие когорты 	     - </a:t>
            </a:r>
            <a:r>
              <a:rPr lang="ru-RU" sz="2400" dirty="0">
                <a:solidFill>
                  <a:schemeClr val="accent6">
                    <a:lumMod val="75000"/>
                  </a:schemeClr>
                </a:solidFill>
              </a:rPr>
              <a:t>407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ru-RU" dirty="0"/>
              <a:t>₽</a:t>
            </a:r>
          </a:p>
          <a:p>
            <a:r>
              <a:rPr lang="ru-RU" dirty="0"/>
              <a:t>Когорта 11-12.2022  - </a:t>
            </a:r>
            <a:r>
              <a:rPr lang="ru-RU" sz="2400" dirty="0">
                <a:solidFill>
                  <a:schemeClr val="accent6">
                    <a:lumMod val="75000"/>
                  </a:schemeClr>
                </a:solidFill>
              </a:rPr>
              <a:t>386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ru-RU" dirty="0"/>
              <a:t>₽</a:t>
            </a:r>
            <a:endParaRPr lang="en-US" dirty="0"/>
          </a:p>
          <a:p>
            <a:endParaRPr lang="en-US" dirty="0"/>
          </a:p>
          <a:p>
            <a:r>
              <a:rPr lang="ru-RU" dirty="0"/>
              <a:t>Падение выручки  на  </a:t>
            </a:r>
            <a:r>
              <a:rPr lang="ru-RU" sz="2400" dirty="0">
                <a:solidFill>
                  <a:srgbClr val="FF0000"/>
                </a:solidFill>
              </a:rPr>
              <a:t>5%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91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4BD3D-C97F-93B2-D120-F1C387A6D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9184"/>
            <a:ext cx="4391129" cy="102570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Лояльные</a:t>
            </a:r>
            <a:r>
              <a:rPr lang="ru-RU" dirty="0"/>
              <a:t> </a:t>
            </a:r>
            <a:r>
              <a:rPr lang="ru-RU" sz="3200" dirty="0"/>
              <a:t>пользователи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70111F-55CE-1DBB-CB53-76C8EAC2E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2059262"/>
            <a:ext cx="6477001" cy="10343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100" dirty="0">
                <a:solidFill>
                  <a:schemeClr val="accent4">
                    <a:lumMod val="50000"/>
                  </a:schemeClr>
                </a:solidFill>
              </a:rPr>
              <a:t>Лояльный пользователь 1</a:t>
            </a:r>
            <a:r>
              <a:rPr lang="ru-RU" sz="2100" dirty="0"/>
              <a:t>:</a:t>
            </a:r>
          </a:p>
          <a:p>
            <a:pPr marL="0" indent="0">
              <a:buNone/>
            </a:pPr>
            <a:r>
              <a:rPr lang="ru-RU" sz="2100" dirty="0"/>
              <a:t>- Пригласил трех друзей </a:t>
            </a:r>
          </a:p>
          <a:p>
            <a:pPr marL="0" indent="0">
              <a:buNone/>
            </a:pPr>
            <a:r>
              <a:rPr lang="ru-RU" sz="2100" dirty="0"/>
              <a:t>- Минимум один из них зарегистрировался в игре</a:t>
            </a:r>
          </a:p>
          <a:p>
            <a:pPr marL="457200" lvl="1" indent="0">
              <a:buNone/>
            </a:pP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E3489909-3E79-7070-228C-E4C0B50D6C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1770391"/>
              </p:ext>
            </p:extLst>
          </p:nvPr>
        </p:nvGraphicFramePr>
        <p:xfrm>
          <a:off x="5642043" y="1054885"/>
          <a:ext cx="6303523" cy="4313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Объект 2">
            <a:extLst>
              <a:ext uri="{FF2B5EF4-FFF2-40B4-BE49-F238E27FC236}">
                <a16:creationId xmlns:a16="http://schemas.microsoft.com/office/drawing/2014/main" id="{5271D494-40F8-5CFA-F788-3D00AEF7C7BA}"/>
              </a:ext>
            </a:extLst>
          </p:cNvPr>
          <p:cNvSpPr txBox="1">
            <a:spLocks/>
          </p:cNvSpPr>
          <p:nvPr/>
        </p:nvSpPr>
        <p:spPr>
          <a:xfrm>
            <a:off x="-1" y="3798086"/>
            <a:ext cx="6477001" cy="1034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chemeClr val="accent2"/>
                </a:solidFill>
              </a:rPr>
              <a:t>Лояльный пользователь 2</a:t>
            </a:r>
            <a:r>
              <a:rPr lang="ru-RU" sz="1800" dirty="0"/>
              <a:t>:</a:t>
            </a:r>
          </a:p>
          <a:p>
            <a:pPr marL="0" indent="0">
              <a:buNone/>
            </a:pPr>
            <a:r>
              <a:rPr lang="ru-RU" sz="1800" dirty="0"/>
              <a:t>- Совершил покупок в игре минимум на 1000 рублей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ru-RU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16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0D07A329-2286-3D33-19AF-B56F2A948DF6}"/>
              </a:ext>
            </a:extLst>
          </p:cNvPr>
          <p:cNvSpPr txBox="1">
            <a:spLocks/>
          </p:cNvSpPr>
          <p:nvPr/>
        </p:nvSpPr>
        <p:spPr>
          <a:xfrm>
            <a:off x="0" y="1606926"/>
            <a:ext cx="6477001" cy="18220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solidFill>
                  <a:schemeClr val="accent4">
                    <a:lumMod val="50000"/>
                  </a:schemeClr>
                </a:solidFill>
              </a:rPr>
              <a:t>Лояльный пользователь 3</a:t>
            </a:r>
            <a:r>
              <a:rPr lang="ru-RU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/>
              <a:t>-  Пригласил трех друзей </a:t>
            </a:r>
          </a:p>
          <a:p>
            <a:pPr marL="0" indent="0">
              <a:buNone/>
            </a:pPr>
            <a:r>
              <a:rPr lang="ru-RU" sz="1800" dirty="0"/>
              <a:t>- Минимум один из них зарегистрировался в игре</a:t>
            </a:r>
          </a:p>
          <a:p>
            <a:pPr marL="0" indent="0">
              <a:buNone/>
            </a:pPr>
            <a:r>
              <a:rPr lang="ru-RU" sz="1800" dirty="0"/>
              <a:t>		</a:t>
            </a:r>
            <a:r>
              <a:rPr lang="ru-RU" sz="1800" b="1" dirty="0"/>
              <a:t>И</a:t>
            </a:r>
          </a:p>
          <a:p>
            <a:pPr marL="0" indent="0">
              <a:buNone/>
            </a:pPr>
            <a:r>
              <a:rPr lang="ru-RU" sz="1800" dirty="0"/>
              <a:t>- Совершил покупок в игре минимум на 1000 рублей</a:t>
            </a:r>
          </a:p>
          <a:p>
            <a:pPr marL="0" indent="0">
              <a:buNone/>
            </a:pPr>
            <a:endParaRPr lang="ru-RU" sz="1800" dirty="0"/>
          </a:p>
          <a:p>
            <a:pPr>
              <a:buFontTx/>
              <a:buChar char="-"/>
            </a:pPr>
            <a:endParaRPr lang="ru-RU" sz="21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ru-RU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5E9BFD28-9CCA-B694-26FA-4C5B08240F8B}"/>
              </a:ext>
            </a:extLst>
          </p:cNvPr>
          <p:cNvSpPr txBox="1">
            <a:spLocks/>
          </p:cNvSpPr>
          <p:nvPr/>
        </p:nvSpPr>
        <p:spPr>
          <a:xfrm>
            <a:off x="0" y="4186377"/>
            <a:ext cx="6477001" cy="18220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solidFill>
                  <a:schemeClr val="accent2"/>
                </a:solidFill>
              </a:rPr>
              <a:t>Лояльный пользователь 4</a:t>
            </a:r>
            <a:r>
              <a:rPr lang="ru-RU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/>
              <a:t>-  Пригласил трех друзей </a:t>
            </a:r>
          </a:p>
          <a:p>
            <a:pPr marL="0" indent="0">
              <a:buNone/>
            </a:pPr>
            <a:r>
              <a:rPr lang="ru-RU" sz="1800" dirty="0"/>
              <a:t>- Минимум один из них зарегистрировался в игре</a:t>
            </a:r>
          </a:p>
          <a:p>
            <a:pPr marL="0" indent="0">
              <a:buNone/>
            </a:pPr>
            <a:r>
              <a:rPr lang="ru-RU" sz="1800" dirty="0"/>
              <a:t>		</a:t>
            </a:r>
            <a:r>
              <a:rPr lang="ru-RU" sz="1800" b="1" dirty="0"/>
              <a:t>ИЛИ</a:t>
            </a:r>
          </a:p>
          <a:p>
            <a:pPr marL="0" indent="0">
              <a:buNone/>
            </a:pPr>
            <a:r>
              <a:rPr lang="ru-RU" sz="1800" dirty="0"/>
              <a:t>- Совершил покупок в игре минимум на 1000 рублей</a:t>
            </a:r>
          </a:p>
          <a:p>
            <a:pPr marL="0" indent="0">
              <a:buNone/>
            </a:pPr>
            <a:endParaRPr lang="ru-RU" sz="1800" dirty="0"/>
          </a:p>
          <a:p>
            <a:pPr>
              <a:buFontTx/>
              <a:buChar char="-"/>
            </a:pPr>
            <a:endParaRPr lang="ru-RU" sz="21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ru-RU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ru-RU" dirty="0"/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51A74EE1-8F35-C10B-2DC8-58A7DA3205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1837495"/>
              </p:ext>
            </p:extLst>
          </p:nvPr>
        </p:nvGraphicFramePr>
        <p:xfrm>
          <a:off x="5400472" y="1209218"/>
          <a:ext cx="6574277" cy="3868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A8B0C6A-5141-7EDF-31CF-796A6781B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9184"/>
            <a:ext cx="4391129" cy="102570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Лояльные</a:t>
            </a:r>
            <a:r>
              <a:rPr lang="ru-RU" dirty="0"/>
              <a:t> </a:t>
            </a:r>
            <a:r>
              <a:rPr lang="ru-RU" sz="3200" dirty="0"/>
              <a:t>пользователи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75115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636</Words>
  <Application>Microsoft Office PowerPoint</Application>
  <PresentationFormat>Широкоэкранный</PresentationFormat>
  <Paragraphs>163</Paragraphs>
  <Slides>15</Slides>
  <Notes>3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Тема Office</vt:lpstr>
      <vt:lpstr>Zombie Revolution </vt:lpstr>
      <vt:lpstr>План</vt:lpstr>
      <vt:lpstr>Общие данные на период 07.2022 – 04.2023</vt:lpstr>
      <vt:lpstr>Общие данные на период 07.2022 – 04.2023</vt:lpstr>
      <vt:lpstr>Технические  проблемы</vt:lpstr>
      <vt:lpstr>Презентация PowerPoint</vt:lpstr>
      <vt:lpstr>Презентация PowerPoint</vt:lpstr>
      <vt:lpstr>Финансовые  показатели</vt:lpstr>
      <vt:lpstr>Выручка   от разных типов игровых предметов</vt:lpstr>
      <vt:lpstr>Увеличение стоимости кристалла  с 01.01.2023</vt:lpstr>
      <vt:lpstr>Когорты  Выручка по когортам</vt:lpstr>
      <vt:lpstr>K-factor</vt:lpstr>
      <vt:lpstr>Новый канал  привлечения пользователей</vt:lpstr>
      <vt:lpstr>Лояльные пользователи</vt:lpstr>
      <vt:lpstr>Лояльные пользователи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169.2.1 DA</dc:creator>
  <cp:lastModifiedBy>169.2.1 DA</cp:lastModifiedBy>
  <cp:revision>10</cp:revision>
  <dcterms:created xsi:type="dcterms:W3CDTF">2026-05-19T20:02:11Z</dcterms:created>
  <dcterms:modified xsi:type="dcterms:W3CDTF">2026-05-25T22:55:34Z</dcterms:modified>
</cp:coreProperties>
</file>